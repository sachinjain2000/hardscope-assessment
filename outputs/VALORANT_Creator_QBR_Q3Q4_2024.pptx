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46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VALORANT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Campaign QBR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+ Q4 2024 Performance Review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0972800" cy="0"/>
          </a:xfrm>
          <a:prstGeom prst="line">
            <a:avLst/>
          </a:prstGeom>
          <a:noFill/>
          <a:ln w="25400">
            <a:solidFill>
              <a:srgbClr val="FF46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017520"/>
            <a:ext cx="2651760" cy="1371600"/>
          </a:xfrm>
          <a:prstGeom prst="rect">
            <a:avLst/>
          </a:prstGeom>
          <a:solidFill>
            <a:srgbClr val="374151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10896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655"/>
                </a:solidFill>
              </a:rPr>
              <a:t>7.3M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Total Views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0" y="3017520"/>
            <a:ext cx="2651760" cy="1371600"/>
          </a:xfrm>
          <a:prstGeom prst="rect">
            <a:avLst/>
          </a:prstGeom>
          <a:solidFill>
            <a:srgbClr val="374151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10896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655"/>
                </a:solidFill>
              </a:rPr>
              <a:t>234K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Total Engagements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3017520"/>
            <a:ext cx="2651760" cy="1371600"/>
          </a:xfrm>
          <a:prstGeom prst="rect">
            <a:avLst/>
          </a:prstGeom>
          <a:solidFill>
            <a:srgbClr val="374151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10896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655"/>
                </a:solidFill>
              </a:rPr>
              <a:t>3.19%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00800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Blended 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2651760" cy="1371600"/>
          </a:xfrm>
          <a:prstGeom prst="rect">
            <a:avLst/>
          </a:prstGeom>
          <a:solidFill>
            <a:srgbClr val="374151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310896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655"/>
                </a:solidFill>
              </a:rPr>
              <a:t>~$190K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326880" y="3794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Est. Spend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Prepared by Sachin Jain · HardScope Lead Analyst Assessment · April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Q4 2024 Creator Leaderboard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D4FF"/>
                </a:solidFill>
              </a:rPr>
              <a:t>Ranked by Engagement Rate | Benchmark: 3.87%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32004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#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155448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Creator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097280"/>
            <a:ext cx="219456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Q4 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1097280"/>
            <a:ext cx="219456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CPE / Tier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92240" y="1097280"/>
            <a:ext cx="219456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ΔER vs Q3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0" y="1097280"/>
            <a:ext cx="219456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Q1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463040"/>
            <a:ext cx="11338560" cy="5943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5087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5087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tarik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1508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FF88"/>
                </a:solidFill>
              </a:rPr>
              <a:t>4.45%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0" y="1508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$0.20 Acceptable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1508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+1.14pp ✅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1508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SCALE +50%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11338560" cy="59436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167128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2167128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TenZ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560320" y="216712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033"/>
                </a:solidFill>
              </a:rPr>
              <a:t>3.71%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216712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$0.14 Acceptable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216712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-0.65pp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61120" y="216712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RENEW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2779776"/>
            <a:ext cx="11338560" cy="5943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825496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282549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Kyedae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560320" y="282549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033"/>
                </a:solidFill>
              </a:rPr>
              <a:t>3.28%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206240" y="282549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$0.34 Review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92240" y="282549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-1.11pp ⚠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961120" y="282549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RENEW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3438144"/>
            <a:ext cx="11338560" cy="59436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483864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" y="3483864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Sinatraa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60320" y="34838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033"/>
                </a:solidFill>
              </a:rPr>
              <a:t>2.63%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206240" y="34838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$0.38 Review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92240" y="34838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-1.37pp 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961120" y="348386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MONITOR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1338560" cy="59436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142232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7240" y="4142232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Protatomonster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560320" y="414223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033"/>
                </a:solidFill>
              </a:rPr>
              <a:t>2.54%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06240" y="414223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$0.55 Review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92240" y="414223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-0.33pp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961120" y="414223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ROTATE OUT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4754880"/>
            <a:ext cx="11338560" cy="59436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4800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77240" y="48006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aceu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560320" y="4800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033"/>
                </a:solidFill>
              </a:rPr>
              <a:t>1.23%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206240" y="4800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$3.46 Review ❌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492240" y="4800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-2.10pp ❌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961120" y="4800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RENEGOTIATE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1338560" cy="1280160"/>
          </a:xfrm>
          <a:prstGeom prst="rect">
            <a:avLst/>
          </a:prstGeom>
          <a:solidFill>
            <a:srgbClr val="1F2937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</a:rPr>
              <a:t>📉  Category Headwind — 44% Search Interest Drop Q3→Q4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0759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Google Trends (valorant, US): Q3 avg 65.4 vs Q4 avg 36.7. August peaked at 77.2 (VCT Champions Seoul). This macro effect partially explains Q4 ER compression across the whole program. Not a creator performance failure.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286000"/>
            <a:ext cx="11338560" cy="1280160"/>
          </a:xfrm>
          <a:prstGeom prst="rect">
            <a:avLst/>
          </a:prstGeom>
          <a:solidFill>
            <a:srgbClr val="1F2937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</a:rPr>
              <a:t>⚡  TenZ Viral Outlier — Normalized Q3 Baseline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One Short video (7.4M views, Aug 2024) = 78.7% of TenZ's Q3 total. Excluding it gives a Q3 ER baseline of 3.58% vs inflated 4.51%. Without normalization, Q4 comparison is misleading. All modeled tables use the normalized figure.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703320"/>
            <a:ext cx="11338560" cy="1280160"/>
          </a:xfrm>
          <a:prstGeom prst="rect">
            <a:avLst/>
          </a:prstGeom>
          <a:solidFill>
            <a:srgbClr val="1F2937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</a:rPr>
              <a:t>🏆  tarik — Only Creator with Positive Incrementality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142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+1.14pp ER Q3→Q4 despite the category headwind. Strong audience engagement even in low-interest months. Highest Q4 ER at 4.45%. CPE acceptable at current rates. Strongest ROI signal in the program.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5120640"/>
            <a:ext cx="11338560" cy="1280160"/>
          </a:xfrm>
          <a:prstGeom prst="rect">
            <a:avLst/>
          </a:prstGeom>
          <a:solidFill>
            <a:srgbClr val="1F2937"/>
          </a:solidFill>
          <a:ln w="12700">
            <a:solidFill>
              <a:srgbClr val="FF46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</a:rPr>
              <a:t>🔴  aceu — Structural Underperformance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55955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1.23% Q4 ER = only creator below the 50% benchmark floor. CPE $3.46 = 14× above Efficient ceiling. Consistent across all 3 Q4 months. This is fit-based, not seasonal. Renegotiate rate or rotate out.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3-Layer Measurement Framework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657600" cy="5303520"/>
          </a:xfrm>
          <a:prstGeom prst="rect">
            <a:avLst/>
          </a:prstGeom>
          <a:solidFill>
            <a:srgbClr val="1F2937"/>
          </a:solidFill>
          <a:ln w="25400">
            <a:solidFill>
              <a:srgbClr val="FF46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14400"/>
            <a:ext cx="3657600" cy="548640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 — AWARENESS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D4FF"/>
                </a:solidFill>
              </a:rPr>
              <a:t>How many people did we reach?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488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Total Views · Views/Day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38328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42900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Reach Index: views × (1 + ER/100)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70916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Google Trends Search Interest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914400"/>
            <a:ext cx="3657600" cy="5303520"/>
          </a:xfrm>
          <a:prstGeom prst="rect">
            <a:avLst/>
          </a:prstGeom>
          <a:solidFill>
            <a:srgbClr val="1F2937"/>
          </a:solidFill>
          <a:ln w="25400">
            <a:solidFill>
              <a:srgbClr val="FF46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914400"/>
            <a:ext cx="3657600" cy="548640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960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 — ENGAGEMENT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D4FF"/>
                </a:solidFill>
              </a:rPr>
              <a:t>Did audiences actually care?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210312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9" name="Text 17"/>
          <p:cNvSpPr/>
          <p:nvPr/>
        </p:nvSpPr>
        <p:spPr>
          <a:xfrm>
            <a:off x="4480560" y="21488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Engagement Rate: (likes+comments)÷views×100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338328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1" name="Text 19"/>
          <p:cNvSpPr/>
          <p:nvPr/>
        </p:nvSpPr>
        <p:spPr>
          <a:xfrm>
            <a:off x="4480560" y="342900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Quality Engagement Index: comments weighted 3×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434840" y="466344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3" name="Text 21"/>
          <p:cNvSpPr/>
          <p:nvPr/>
        </p:nvSpPr>
        <p:spPr>
          <a:xfrm>
            <a:off x="4480560" y="470916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Watch Time: views × duration × 50%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914400"/>
            <a:ext cx="3657600" cy="5303520"/>
          </a:xfrm>
          <a:prstGeom prst="rect">
            <a:avLst/>
          </a:prstGeom>
          <a:solidFill>
            <a:srgbClr val="1F2937"/>
          </a:solidFill>
          <a:ln w="25400">
            <a:solidFill>
              <a:srgbClr val="FF46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914400"/>
            <a:ext cx="3657600" cy="548640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960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 — CONSIDERATION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210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D4FF"/>
                </a:solidFill>
              </a:rPr>
              <a:t>Did we move people down the funnel?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66760" y="210312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0" y="21488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CPE: monthly spend ÷ engagements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66760" y="338328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31" name="Text 29"/>
          <p:cNvSpPr/>
          <p:nvPr/>
        </p:nvSpPr>
        <p:spPr>
          <a:xfrm>
            <a:off x="8412480" y="342900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CPE Tier: Efficient ≤$0.11 / Accept ≤$0.25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366760" y="4663440"/>
            <a:ext cx="3383280" cy="114300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33" name="Text 31"/>
          <p:cNvSpPr/>
          <p:nvPr/>
        </p:nvSpPr>
        <p:spPr>
          <a:xfrm>
            <a:off x="8412480" y="470916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• Incrementality: Q4 ER − Q3 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77640" y="3200400"/>
            <a:ext cx="274320" cy="457200"/>
          </a:xfrm>
          <a:prstGeom prst="rightArrow">
            <a:avLst/>
          </a:prstGeom>
          <a:solidFill>
            <a:srgbClr val="FFE033"/>
          </a:solidFill>
          <a:ln/>
        </p:spPr>
      </p:sp>
      <p:sp>
        <p:nvSpPr>
          <p:cNvPr id="35" name="Shape 33"/>
          <p:cNvSpPr/>
          <p:nvPr/>
        </p:nvSpPr>
        <p:spPr>
          <a:xfrm>
            <a:off x="7955280" y="3200400"/>
            <a:ext cx="274320" cy="457200"/>
          </a:xfrm>
          <a:prstGeom prst="rightArrow">
            <a:avLst/>
          </a:prstGeom>
          <a:solidFill>
            <a:srgbClr val="FFE033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465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Q1 2025 Recommendations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</a:rPr>
              <a:t>Budget Allocation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86000" y="1234440"/>
            <a:ext cx="164592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Creator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3360" y="1234440"/>
            <a:ext cx="164592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Est. Q1 Spend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0" y="1234440"/>
            <a:ext cx="4572000" cy="320040"/>
          </a:xfrm>
          <a:prstGeom prst="rect">
            <a:avLst/>
          </a:prstGeom>
          <a:solidFill>
            <a:srgbClr val="FF465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Rationale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10149840" cy="5303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0934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</a:rPr>
              <a:t>SCALE +50%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160934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tarik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160934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E033"/>
                </a:solidFill>
              </a:rPr>
              <a:t>$30K/mo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60934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Best ROI + improving trend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139696"/>
            <a:ext cx="10149840" cy="530352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176272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</a:rPr>
              <a:t>RENEW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2176272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TenZ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23360" y="2176272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E033"/>
                </a:solidFill>
              </a:rPr>
              <a:t>$25K/mo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217627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Audience loyalty, viral upside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706624"/>
            <a:ext cx="10149840" cy="5303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7432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</a:rPr>
              <a:t>RENEW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0" y="27432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Kyedae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23360" y="27432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E033"/>
                </a:solidFill>
              </a:rPr>
              <a:t>$22K/mo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Above benchmark, loyal audience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0149840" cy="530352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31012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E033"/>
                </a:solidFill>
              </a:rPr>
              <a:t>MONITOR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286000" y="331012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Sinatraa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23360" y="331012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E033"/>
                </a:solidFill>
              </a:rPr>
              <a:t>$8K/mo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0" y="331012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Watch another cycle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3840480"/>
            <a:ext cx="10149840" cy="53035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877056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ROTATE OUT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86000" y="3877056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Protatomonster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877056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E033"/>
                </a:solidFill>
              </a:rPr>
              <a:t>$0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0" y="387705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Flat performance vs cost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407408"/>
            <a:ext cx="10149840" cy="530352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44398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4655"/>
                </a:solidFill>
              </a:rPr>
              <a:t>RENEGOTIATE -30%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286000" y="444398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aceu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23360" y="4443984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E033"/>
                </a:solidFill>
              </a:rPr>
              <a:t>$20K/mo 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943600" y="444398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CPE 14× benchmark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5166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457200" y="5577840"/>
            <a:ext cx="11247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1.  Confirm Q1 2025 contracts and lock tarik at +50% budget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5833872"/>
            <a:ext cx="11247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2.  Pull real spend data from finance — replace benchmark CPE with actuals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089904"/>
            <a:ext cx="11247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3.  Add Twitch VOD + X impression signals for full-funnel view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6345936"/>
            <a:ext cx="11247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4.  Commission brand lift study to measure audience overlap (TenZ vs tarik)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2026-04-13T07:03:19Z</dcterms:created>
  <dcterms:modified xsi:type="dcterms:W3CDTF">2026-04-13T07:03:19Z</dcterms:modified>
</cp:coreProperties>
</file>