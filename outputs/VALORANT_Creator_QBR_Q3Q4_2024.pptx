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FF4655"/>
          </a:solidFill>
          <a:ln/>
        </p:spPr>
      </p:sp>
      <p:sp>
        <p:nvSpPr>
          <p:cNvPr id="3" name="Text 1"/>
          <p:cNvSpPr/>
          <p:nvPr/>
        </p:nvSpPr>
        <p:spPr>
          <a:xfrm>
            <a:off x="548640" y="640080"/>
            <a:ext cx="10972800" cy="1005840"/>
          </a:xfrm>
          <a:prstGeom prst="rect">
            <a:avLst/>
          </a:prstGeom>
          <a:noFill/>
          <a:ln/>
        </p:spPr>
        <p:txBody>
          <a:bodyPr wrap="square" rtlCol="0" anchor="ctr"/>
          <a:lstStyle/>
          <a:p>
            <a:pPr indent="0" marL="0">
              <a:buNone/>
            </a:pPr>
            <a:r>
              <a:rPr lang="en-US" sz="6400" b="1" dirty="0">
                <a:solidFill>
                  <a:srgbClr val="FF4655"/>
                </a:solidFill>
                <a:latin typeface="Arial Black" pitchFamily="34" charset="0"/>
                <a:ea typeface="Arial Black" pitchFamily="34" charset="-122"/>
                <a:cs typeface="Arial Black" pitchFamily="34" charset="-120"/>
              </a:rPr>
              <a:t>VALORANT</a:t>
            </a:r>
            <a:endParaRPr lang="en-US" sz="6400" dirty="0"/>
          </a:p>
        </p:txBody>
      </p:sp>
      <p:sp>
        <p:nvSpPr>
          <p:cNvPr id="4" name="Text 2"/>
          <p:cNvSpPr/>
          <p:nvPr/>
        </p:nvSpPr>
        <p:spPr>
          <a:xfrm>
            <a:off x="548640" y="1600200"/>
            <a:ext cx="10972800" cy="640080"/>
          </a:xfrm>
          <a:prstGeom prst="rect">
            <a:avLst/>
          </a:prstGeom>
          <a:noFill/>
          <a:ln/>
        </p:spPr>
        <p:txBody>
          <a:bodyPr wrap="square" rtlCol="0" anchor="ctr"/>
          <a:lstStyle/>
          <a:p>
            <a:pPr indent="0" marL="0">
              <a:buNone/>
            </a:pPr>
            <a:r>
              <a:rPr lang="en-US" sz="3600" b="1" dirty="0">
                <a:solidFill>
                  <a:srgbClr val="FFFFFF"/>
                </a:solidFill>
              </a:rPr>
              <a:t>Creator Campaign QBR</a:t>
            </a:r>
            <a:endParaRPr lang="en-US" sz="3600" dirty="0"/>
          </a:p>
        </p:txBody>
      </p:sp>
      <p:sp>
        <p:nvSpPr>
          <p:cNvPr id="5" name="Text 3"/>
          <p:cNvSpPr/>
          <p:nvPr/>
        </p:nvSpPr>
        <p:spPr>
          <a:xfrm>
            <a:off x="548640" y="2240280"/>
            <a:ext cx="10058400" cy="365760"/>
          </a:xfrm>
          <a:prstGeom prst="rect">
            <a:avLst/>
          </a:prstGeom>
          <a:noFill/>
          <a:ln/>
        </p:spPr>
        <p:txBody>
          <a:bodyPr wrap="square" rtlCol="0" anchor="ctr"/>
          <a:lstStyle/>
          <a:p>
            <a:pPr indent="0" marL="0">
              <a:buNone/>
            </a:pPr>
            <a:r>
              <a:rPr lang="en-US" sz="1600" dirty="0">
                <a:solidFill>
                  <a:srgbClr val="00D4FF"/>
                </a:solidFill>
              </a:rPr>
              <a:t>Q3 + Q4 2024  ·  6 Creators  ·  112 Videos  ·  Real YouTube API Data</a:t>
            </a:r>
            <a:endParaRPr lang="en-US" sz="1600" dirty="0"/>
          </a:p>
        </p:txBody>
      </p:sp>
      <p:sp>
        <p:nvSpPr>
          <p:cNvPr id="6" name="Shape 4"/>
          <p:cNvSpPr/>
          <p:nvPr/>
        </p:nvSpPr>
        <p:spPr>
          <a:xfrm>
            <a:off x="548640" y="2743200"/>
            <a:ext cx="10972800" cy="0"/>
          </a:xfrm>
          <a:prstGeom prst="line">
            <a:avLst/>
          </a:prstGeom>
          <a:noFill/>
          <a:ln w="25400">
            <a:solidFill>
              <a:srgbClr val="FF4655"/>
            </a:solidFill>
            <a:prstDash val="solid"/>
          </a:ln>
        </p:spPr>
      </p:sp>
      <p:sp>
        <p:nvSpPr>
          <p:cNvPr id="7" name="Shape 5"/>
          <p:cNvSpPr/>
          <p:nvPr/>
        </p:nvSpPr>
        <p:spPr>
          <a:xfrm>
            <a:off x="457200" y="2926080"/>
            <a:ext cx="2743200" cy="1463040"/>
          </a:xfrm>
          <a:prstGeom prst="rect">
            <a:avLst/>
          </a:prstGeom>
          <a:solidFill>
            <a:srgbClr val="374151"/>
          </a:solidFill>
          <a:ln w="12700">
            <a:solidFill>
              <a:srgbClr val="FF4655"/>
            </a:solidFill>
            <a:prstDash val="solid"/>
          </a:ln>
        </p:spPr>
      </p:sp>
      <p:sp>
        <p:nvSpPr>
          <p:cNvPr id="8" name="Text 6"/>
          <p:cNvSpPr/>
          <p:nvPr/>
        </p:nvSpPr>
        <p:spPr>
          <a:xfrm>
            <a:off x="457200" y="3017520"/>
            <a:ext cx="2743200" cy="731520"/>
          </a:xfrm>
          <a:prstGeom prst="rect">
            <a:avLst/>
          </a:prstGeom>
          <a:noFill/>
          <a:ln/>
        </p:spPr>
        <p:txBody>
          <a:bodyPr wrap="square" rtlCol="0" anchor="ctr"/>
          <a:lstStyle/>
          <a:p>
            <a:pPr algn="ctr" indent="0" marL="0">
              <a:buNone/>
            </a:pPr>
            <a:r>
              <a:rPr lang="en-US" sz="3000" b="1" dirty="0">
                <a:solidFill>
                  <a:srgbClr val="FF4655"/>
                </a:solidFill>
              </a:rPr>
              <a:t>7.3M</a:t>
            </a:r>
            <a:endParaRPr lang="en-US" sz="3000" dirty="0"/>
          </a:p>
        </p:txBody>
      </p:sp>
      <p:sp>
        <p:nvSpPr>
          <p:cNvPr id="9" name="Text 7"/>
          <p:cNvSpPr/>
          <p:nvPr/>
        </p:nvSpPr>
        <p:spPr>
          <a:xfrm>
            <a:off x="457200" y="3749040"/>
            <a:ext cx="2743200" cy="457200"/>
          </a:xfrm>
          <a:prstGeom prst="rect">
            <a:avLst/>
          </a:prstGeom>
          <a:noFill/>
          <a:ln/>
        </p:spPr>
        <p:txBody>
          <a:bodyPr wrap="square" rtlCol="0" anchor="ctr"/>
          <a:lstStyle/>
          <a:p>
            <a:pPr algn="ctr" indent="0" marL="0">
              <a:buNone/>
            </a:pPr>
            <a:r>
              <a:rPr lang="en-US" sz="1300" dirty="0">
                <a:solidFill>
                  <a:srgbClr val="FFFFFF"/>
                </a:solidFill>
              </a:rPr>
              <a:t>Total Views Q4</a:t>
            </a:r>
            <a:endParaRPr lang="en-US" sz="1300" dirty="0"/>
          </a:p>
        </p:txBody>
      </p:sp>
      <p:sp>
        <p:nvSpPr>
          <p:cNvPr id="10" name="Shape 8"/>
          <p:cNvSpPr/>
          <p:nvPr/>
        </p:nvSpPr>
        <p:spPr>
          <a:xfrm>
            <a:off x="3383280" y="2926080"/>
            <a:ext cx="2743200" cy="1463040"/>
          </a:xfrm>
          <a:prstGeom prst="rect">
            <a:avLst/>
          </a:prstGeom>
          <a:solidFill>
            <a:srgbClr val="374151"/>
          </a:solidFill>
          <a:ln w="12700">
            <a:solidFill>
              <a:srgbClr val="FF4655"/>
            </a:solidFill>
            <a:prstDash val="solid"/>
          </a:ln>
        </p:spPr>
      </p:sp>
      <p:sp>
        <p:nvSpPr>
          <p:cNvPr id="11" name="Text 9"/>
          <p:cNvSpPr/>
          <p:nvPr/>
        </p:nvSpPr>
        <p:spPr>
          <a:xfrm>
            <a:off x="3383280" y="3017520"/>
            <a:ext cx="2743200" cy="731520"/>
          </a:xfrm>
          <a:prstGeom prst="rect">
            <a:avLst/>
          </a:prstGeom>
          <a:noFill/>
          <a:ln/>
        </p:spPr>
        <p:txBody>
          <a:bodyPr wrap="square" rtlCol="0" anchor="ctr"/>
          <a:lstStyle/>
          <a:p>
            <a:pPr algn="ctr" indent="0" marL="0">
              <a:buNone/>
            </a:pPr>
            <a:r>
              <a:rPr lang="en-US" sz="3000" b="1" dirty="0">
                <a:solidFill>
                  <a:srgbClr val="FF4655"/>
                </a:solidFill>
              </a:rPr>
              <a:t>234K</a:t>
            </a:r>
            <a:endParaRPr lang="en-US" sz="3000" dirty="0"/>
          </a:p>
        </p:txBody>
      </p:sp>
      <p:sp>
        <p:nvSpPr>
          <p:cNvPr id="12" name="Text 10"/>
          <p:cNvSpPr/>
          <p:nvPr/>
        </p:nvSpPr>
        <p:spPr>
          <a:xfrm>
            <a:off x="3383280" y="3749040"/>
            <a:ext cx="2743200" cy="457200"/>
          </a:xfrm>
          <a:prstGeom prst="rect">
            <a:avLst/>
          </a:prstGeom>
          <a:noFill/>
          <a:ln/>
        </p:spPr>
        <p:txBody>
          <a:bodyPr wrap="square" rtlCol="0" anchor="ctr"/>
          <a:lstStyle/>
          <a:p>
            <a:pPr algn="ctr" indent="0" marL="0">
              <a:buNone/>
            </a:pPr>
            <a:r>
              <a:rPr lang="en-US" sz="1300" dirty="0">
                <a:solidFill>
                  <a:srgbClr val="FFFFFF"/>
                </a:solidFill>
              </a:rPr>
              <a:t>Total Engagements Q4</a:t>
            </a:r>
            <a:endParaRPr lang="en-US" sz="1300" dirty="0"/>
          </a:p>
        </p:txBody>
      </p:sp>
      <p:sp>
        <p:nvSpPr>
          <p:cNvPr id="13" name="Shape 11"/>
          <p:cNvSpPr/>
          <p:nvPr/>
        </p:nvSpPr>
        <p:spPr>
          <a:xfrm>
            <a:off x="6309360" y="2926080"/>
            <a:ext cx="2743200" cy="1463040"/>
          </a:xfrm>
          <a:prstGeom prst="rect">
            <a:avLst/>
          </a:prstGeom>
          <a:solidFill>
            <a:srgbClr val="374151"/>
          </a:solidFill>
          <a:ln w="12700">
            <a:solidFill>
              <a:srgbClr val="FF4655"/>
            </a:solidFill>
            <a:prstDash val="solid"/>
          </a:ln>
        </p:spPr>
      </p:sp>
      <p:sp>
        <p:nvSpPr>
          <p:cNvPr id="14" name="Text 12"/>
          <p:cNvSpPr/>
          <p:nvPr/>
        </p:nvSpPr>
        <p:spPr>
          <a:xfrm>
            <a:off x="6309360" y="3017520"/>
            <a:ext cx="2743200" cy="731520"/>
          </a:xfrm>
          <a:prstGeom prst="rect">
            <a:avLst/>
          </a:prstGeom>
          <a:noFill/>
          <a:ln/>
        </p:spPr>
        <p:txBody>
          <a:bodyPr wrap="square" rtlCol="0" anchor="ctr"/>
          <a:lstStyle/>
          <a:p>
            <a:pPr algn="ctr" indent="0" marL="0">
              <a:buNone/>
            </a:pPr>
            <a:r>
              <a:rPr lang="en-US" sz="3000" b="1" dirty="0">
                <a:solidFill>
                  <a:srgbClr val="FF4655"/>
                </a:solidFill>
              </a:rPr>
              <a:t>3.19%</a:t>
            </a:r>
            <a:endParaRPr lang="en-US" sz="3000" dirty="0"/>
          </a:p>
        </p:txBody>
      </p:sp>
      <p:sp>
        <p:nvSpPr>
          <p:cNvPr id="15" name="Text 13"/>
          <p:cNvSpPr/>
          <p:nvPr/>
        </p:nvSpPr>
        <p:spPr>
          <a:xfrm>
            <a:off x="6309360" y="3749040"/>
            <a:ext cx="2743200" cy="457200"/>
          </a:xfrm>
          <a:prstGeom prst="rect">
            <a:avLst/>
          </a:prstGeom>
          <a:noFill/>
          <a:ln/>
        </p:spPr>
        <p:txBody>
          <a:bodyPr wrap="square" rtlCol="0" anchor="ctr"/>
          <a:lstStyle/>
          <a:p>
            <a:pPr algn="ctr" indent="0" marL="0">
              <a:buNone/>
            </a:pPr>
            <a:r>
              <a:rPr lang="en-US" sz="1300" dirty="0">
                <a:solidFill>
                  <a:srgbClr val="FFFFFF"/>
                </a:solidFill>
              </a:rPr>
              <a:t>Blended ER Q4</a:t>
            </a:r>
            <a:endParaRPr lang="en-US" sz="1300" dirty="0"/>
          </a:p>
        </p:txBody>
      </p:sp>
      <p:sp>
        <p:nvSpPr>
          <p:cNvPr id="16" name="Shape 14"/>
          <p:cNvSpPr/>
          <p:nvPr/>
        </p:nvSpPr>
        <p:spPr>
          <a:xfrm>
            <a:off x="9235440" y="2926080"/>
            <a:ext cx="2743200" cy="1463040"/>
          </a:xfrm>
          <a:prstGeom prst="rect">
            <a:avLst/>
          </a:prstGeom>
          <a:solidFill>
            <a:srgbClr val="374151"/>
          </a:solidFill>
          <a:ln w="12700">
            <a:solidFill>
              <a:srgbClr val="FF4655"/>
            </a:solidFill>
            <a:prstDash val="solid"/>
          </a:ln>
        </p:spPr>
      </p:sp>
      <p:sp>
        <p:nvSpPr>
          <p:cNvPr id="17" name="Text 15"/>
          <p:cNvSpPr/>
          <p:nvPr/>
        </p:nvSpPr>
        <p:spPr>
          <a:xfrm>
            <a:off x="9235440" y="3017520"/>
            <a:ext cx="2743200" cy="731520"/>
          </a:xfrm>
          <a:prstGeom prst="rect">
            <a:avLst/>
          </a:prstGeom>
          <a:noFill/>
          <a:ln/>
        </p:spPr>
        <p:txBody>
          <a:bodyPr wrap="square" rtlCol="0" anchor="ctr"/>
          <a:lstStyle/>
          <a:p>
            <a:pPr algn="ctr" indent="0" marL="0">
              <a:buNone/>
            </a:pPr>
            <a:r>
              <a:rPr lang="en-US" sz="3000" b="1" dirty="0">
                <a:solidFill>
                  <a:srgbClr val="FF4655"/>
                </a:solidFill>
              </a:rPr>
              <a:t>~$190K</a:t>
            </a:r>
            <a:endParaRPr lang="en-US" sz="3000" dirty="0"/>
          </a:p>
        </p:txBody>
      </p:sp>
      <p:sp>
        <p:nvSpPr>
          <p:cNvPr id="18" name="Text 16"/>
          <p:cNvSpPr/>
          <p:nvPr/>
        </p:nvSpPr>
        <p:spPr>
          <a:xfrm>
            <a:off x="9235440" y="3749040"/>
            <a:ext cx="2743200" cy="457200"/>
          </a:xfrm>
          <a:prstGeom prst="rect">
            <a:avLst/>
          </a:prstGeom>
          <a:noFill/>
          <a:ln/>
        </p:spPr>
        <p:txBody>
          <a:bodyPr wrap="square" rtlCol="0" anchor="ctr"/>
          <a:lstStyle/>
          <a:p>
            <a:pPr algn="ctr" indent="0" marL="0">
              <a:buNone/>
            </a:pPr>
            <a:r>
              <a:rPr lang="en-US" sz="1300" dirty="0">
                <a:solidFill>
                  <a:srgbClr val="FFFFFF"/>
                </a:solidFill>
              </a:rPr>
              <a:t>Est. Monthly Spend</a:t>
            </a:r>
            <a:endParaRPr lang="en-US" sz="1300" dirty="0"/>
          </a:p>
        </p:txBody>
      </p:sp>
      <p:sp>
        <p:nvSpPr>
          <p:cNvPr id="19" name="Text 17"/>
          <p:cNvSpPr/>
          <p:nvPr/>
        </p:nvSpPr>
        <p:spPr>
          <a:xfrm>
            <a:off x="0" y="6492240"/>
            <a:ext cx="12188952" cy="274320"/>
          </a:xfrm>
          <a:prstGeom prst="rect">
            <a:avLst/>
          </a:prstGeom>
          <a:noFill/>
          <a:ln/>
        </p:spPr>
        <p:txBody>
          <a:bodyPr wrap="square" rtlCol="0" anchor="ctr"/>
          <a:lstStyle/>
          <a:p>
            <a:pPr algn="ctr" indent="0" marL="0">
              <a:buNone/>
            </a:pPr>
            <a:r>
              <a:rPr lang="en-US" sz="1000" dirty="0">
                <a:solidFill>
                  <a:srgbClr val="6B7280"/>
                </a:solidFill>
              </a:rPr>
              <a:t>* CPE based on modelled spend estimates — not actual contract rates  ·  See Slide 6 for full methodology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4655"/>
          </a:solidFill>
          <a:ln/>
        </p:spPr>
      </p:sp>
      <p:sp>
        <p:nvSpPr>
          <p:cNvPr id="3" name="Text 1"/>
          <p:cNvSpPr/>
          <p:nvPr/>
        </p:nvSpPr>
        <p:spPr>
          <a:xfrm>
            <a:off x="457200" y="182880"/>
            <a:ext cx="10972800" cy="502920"/>
          </a:xfrm>
          <a:prstGeom prst="rect">
            <a:avLst/>
          </a:prstGeom>
          <a:noFill/>
          <a:ln/>
        </p:spPr>
        <p:txBody>
          <a:bodyPr wrap="square" rtlCol="0" anchor="ctr"/>
          <a:lstStyle/>
          <a:p>
            <a:pPr indent="0" marL="0">
              <a:buNone/>
            </a:pPr>
            <a:r>
              <a:rPr lang="en-US" sz="2800" b="1" dirty="0">
                <a:solidFill>
                  <a:srgbClr val="FFFFFF"/>
                </a:solidFill>
              </a:rPr>
              <a:t>Q4 2024 Creator Leaderboard</a:t>
            </a:r>
            <a:endParaRPr lang="en-US" sz="2800" dirty="0"/>
          </a:p>
        </p:txBody>
      </p:sp>
      <p:sp>
        <p:nvSpPr>
          <p:cNvPr id="4" name="Text 2"/>
          <p:cNvSpPr/>
          <p:nvPr/>
        </p:nvSpPr>
        <p:spPr>
          <a:xfrm>
            <a:off x="457200" y="658368"/>
            <a:ext cx="11247120" cy="320040"/>
          </a:xfrm>
          <a:prstGeom prst="rect">
            <a:avLst/>
          </a:prstGeom>
          <a:noFill/>
          <a:ln/>
        </p:spPr>
        <p:txBody>
          <a:bodyPr wrap="square" rtlCol="0" anchor="ctr"/>
          <a:lstStyle/>
          <a:p>
            <a:pPr indent="0" marL="0">
              <a:buNone/>
            </a:pPr>
            <a:r>
              <a:rPr lang="en-US" sz="1200" dirty="0">
                <a:solidFill>
                  <a:srgbClr val="00D4FF"/>
                </a:solidFill>
              </a:rPr>
              <a:t>Ranked by Engagement Rate  ·  Benchmark: Tier-adjusted (see note)  ·  Global benchmark: 3.87% (Statista 2024 gaming YouTube)</a:t>
            </a:r>
            <a:endParaRPr lang="en-US" sz="1200" dirty="0"/>
          </a:p>
        </p:txBody>
      </p:sp>
      <p:sp>
        <p:nvSpPr>
          <p:cNvPr id="5" name="Text 3"/>
          <p:cNvSpPr/>
          <p:nvPr/>
        </p:nvSpPr>
        <p:spPr>
          <a:xfrm>
            <a:off x="320040" y="1051560"/>
            <a:ext cx="365760" cy="320040"/>
          </a:xfrm>
          <a:prstGeom prst="rect">
            <a:avLst/>
          </a:prstGeom>
          <a:solidFill>
            <a:srgbClr val="FF4655"/>
          </a:solidFill>
          <a:ln/>
        </p:spPr>
        <p:txBody>
          <a:bodyPr wrap="square" rtlCol="0" anchor="ctr"/>
          <a:lstStyle/>
          <a:p>
            <a:pPr algn="ctr" indent="0" marL="0">
              <a:buNone/>
            </a:pPr>
            <a:r>
              <a:rPr lang="en-US" sz="1100" b="1" dirty="0">
                <a:solidFill>
                  <a:srgbClr val="FFFFFF"/>
                </a:solidFill>
              </a:rPr>
              <a:t>#</a:t>
            </a:r>
            <a:endParaRPr lang="en-US" sz="1100" dirty="0"/>
          </a:p>
        </p:txBody>
      </p:sp>
      <p:sp>
        <p:nvSpPr>
          <p:cNvPr id="6" name="Text 4"/>
          <p:cNvSpPr/>
          <p:nvPr/>
        </p:nvSpPr>
        <p:spPr>
          <a:xfrm>
            <a:off x="731520" y="1051560"/>
            <a:ext cx="1600200" cy="320040"/>
          </a:xfrm>
          <a:prstGeom prst="rect">
            <a:avLst/>
          </a:prstGeom>
          <a:solidFill>
            <a:srgbClr val="FF4655"/>
          </a:solidFill>
          <a:ln/>
        </p:spPr>
        <p:txBody>
          <a:bodyPr wrap="square" rtlCol="0" anchor="ctr"/>
          <a:lstStyle/>
          <a:p>
            <a:pPr algn="ctr" indent="0" marL="0">
              <a:buNone/>
            </a:pPr>
            <a:r>
              <a:rPr lang="en-US" sz="1100" b="1" dirty="0">
                <a:solidFill>
                  <a:srgbClr val="FFFFFF"/>
                </a:solidFill>
              </a:rPr>
              <a:t>Creator</a:t>
            </a:r>
            <a:endParaRPr lang="en-US" sz="1100" dirty="0"/>
          </a:p>
        </p:txBody>
      </p:sp>
      <p:sp>
        <p:nvSpPr>
          <p:cNvPr id="7" name="Text 5"/>
          <p:cNvSpPr/>
          <p:nvPr/>
        </p:nvSpPr>
        <p:spPr>
          <a:xfrm>
            <a:off x="2468880" y="1051560"/>
            <a:ext cx="1508760" cy="320040"/>
          </a:xfrm>
          <a:prstGeom prst="rect">
            <a:avLst/>
          </a:prstGeom>
          <a:solidFill>
            <a:srgbClr val="FF4655"/>
          </a:solidFill>
          <a:ln/>
        </p:spPr>
        <p:txBody>
          <a:bodyPr wrap="square" rtlCol="0" anchor="ctr"/>
          <a:lstStyle/>
          <a:p>
            <a:pPr algn="ctr" indent="0" marL="0">
              <a:buNone/>
            </a:pPr>
            <a:r>
              <a:rPr lang="en-US" sz="1100" b="1" dirty="0">
                <a:solidFill>
                  <a:srgbClr val="FFFFFF"/>
                </a:solidFill>
              </a:rPr>
              <a:t>Q4 ER</a:t>
            </a:r>
            <a:endParaRPr lang="en-US" sz="1100" dirty="0"/>
          </a:p>
        </p:txBody>
      </p:sp>
      <p:sp>
        <p:nvSpPr>
          <p:cNvPr id="8" name="Text 6"/>
          <p:cNvSpPr/>
          <p:nvPr/>
        </p:nvSpPr>
        <p:spPr>
          <a:xfrm>
            <a:off x="4114800" y="1051560"/>
            <a:ext cx="1691640" cy="320040"/>
          </a:xfrm>
          <a:prstGeom prst="rect">
            <a:avLst/>
          </a:prstGeom>
          <a:solidFill>
            <a:srgbClr val="FF4655"/>
          </a:solidFill>
          <a:ln/>
        </p:spPr>
        <p:txBody>
          <a:bodyPr wrap="square" rtlCol="0" anchor="ctr"/>
          <a:lstStyle/>
          <a:p>
            <a:pPr algn="ctr" indent="0" marL="0">
              <a:buNone/>
            </a:pPr>
            <a:r>
              <a:rPr lang="en-US" sz="1100" b="1" dirty="0">
                <a:solidFill>
                  <a:srgbClr val="FFFFFF"/>
                </a:solidFill>
              </a:rPr>
              <a:t>CPE (est.)</a:t>
            </a:r>
            <a:endParaRPr lang="en-US" sz="1100" dirty="0"/>
          </a:p>
        </p:txBody>
      </p:sp>
      <p:sp>
        <p:nvSpPr>
          <p:cNvPr id="9" name="Text 7"/>
          <p:cNvSpPr/>
          <p:nvPr/>
        </p:nvSpPr>
        <p:spPr>
          <a:xfrm>
            <a:off x="5943600" y="1051560"/>
            <a:ext cx="2103120" cy="320040"/>
          </a:xfrm>
          <a:prstGeom prst="rect">
            <a:avLst/>
          </a:prstGeom>
          <a:solidFill>
            <a:srgbClr val="FF4655"/>
          </a:solidFill>
          <a:ln/>
        </p:spPr>
        <p:txBody>
          <a:bodyPr wrap="square" rtlCol="0" anchor="ctr"/>
          <a:lstStyle/>
          <a:p>
            <a:pPr algn="ctr" indent="0" marL="0">
              <a:buNone/>
            </a:pPr>
            <a:r>
              <a:rPr lang="en-US" sz="1100" b="1" dirty="0">
                <a:solidFill>
                  <a:srgbClr val="FFFFFF"/>
                </a:solidFill>
              </a:rPr>
              <a:t>ΔER vs Q3</a:t>
            </a:r>
            <a:endParaRPr lang="en-US" sz="1100" dirty="0"/>
          </a:p>
        </p:txBody>
      </p:sp>
      <p:sp>
        <p:nvSpPr>
          <p:cNvPr id="10" name="Text 8"/>
          <p:cNvSpPr/>
          <p:nvPr/>
        </p:nvSpPr>
        <p:spPr>
          <a:xfrm>
            <a:off x="8138160" y="1051560"/>
            <a:ext cx="1920240" cy="320040"/>
          </a:xfrm>
          <a:prstGeom prst="rect">
            <a:avLst/>
          </a:prstGeom>
          <a:solidFill>
            <a:srgbClr val="FF4655"/>
          </a:solidFill>
          <a:ln/>
        </p:spPr>
        <p:txBody>
          <a:bodyPr wrap="square" rtlCol="0" anchor="ctr"/>
          <a:lstStyle/>
          <a:p>
            <a:pPr algn="ctr" indent="0" marL="0">
              <a:buNone/>
            </a:pPr>
            <a:r>
              <a:rPr lang="en-US" sz="1100" b="1" dirty="0">
                <a:solidFill>
                  <a:srgbClr val="FFFFFF"/>
                </a:solidFill>
              </a:rPr>
              <a:t>Tier</a:t>
            </a:r>
            <a:endParaRPr lang="en-US" sz="1100" dirty="0"/>
          </a:p>
        </p:txBody>
      </p:sp>
      <p:sp>
        <p:nvSpPr>
          <p:cNvPr id="11" name="Text 9"/>
          <p:cNvSpPr/>
          <p:nvPr/>
        </p:nvSpPr>
        <p:spPr>
          <a:xfrm>
            <a:off x="10149840" y="1051560"/>
            <a:ext cx="1920240" cy="320040"/>
          </a:xfrm>
          <a:prstGeom prst="rect">
            <a:avLst/>
          </a:prstGeom>
          <a:solidFill>
            <a:srgbClr val="FF4655"/>
          </a:solidFill>
          <a:ln/>
        </p:spPr>
        <p:txBody>
          <a:bodyPr wrap="square" rtlCol="0" anchor="ctr"/>
          <a:lstStyle/>
          <a:p>
            <a:pPr algn="ctr" indent="0" marL="0">
              <a:buNone/>
            </a:pPr>
            <a:r>
              <a:rPr lang="en-US" sz="1100" b="1" dirty="0">
                <a:solidFill>
                  <a:srgbClr val="FFFFFF"/>
                </a:solidFill>
              </a:rPr>
              <a:t>Q1 Action</a:t>
            </a:r>
            <a:endParaRPr lang="en-US" sz="1100" dirty="0"/>
          </a:p>
        </p:txBody>
      </p:sp>
      <p:sp>
        <p:nvSpPr>
          <p:cNvPr id="12" name="Shape 10"/>
          <p:cNvSpPr/>
          <p:nvPr/>
        </p:nvSpPr>
        <p:spPr>
          <a:xfrm>
            <a:off x="320040" y="1417320"/>
            <a:ext cx="11521440" cy="566928"/>
          </a:xfrm>
          <a:prstGeom prst="rect">
            <a:avLst/>
          </a:prstGeom>
          <a:solidFill>
            <a:srgbClr val="1F2937"/>
          </a:solidFill>
          <a:ln/>
        </p:spPr>
      </p:sp>
      <p:sp>
        <p:nvSpPr>
          <p:cNvPr id="13" name="Text 11"/>
          <p:cNvSpPr/>
          <p:nvPr/>
        </p:nvSpPr>
        <p:spPr>
          <a:xfrm>
            <a:off x="320040" y="1463040"/>
            <a:ext cx="365760" cy="475488"/>
          </a:xfrm>
          <a:prstGeom prst="rect">
            <a:avLst/>
          </a:prstGeom>
          <a:noFill/>
          <a:ln/>
        </p:spPr>
        <p:txBody>
          <a:bodyPr wrap="square" rtlCol="0" anchor="ctr"/>
          <a:lstStyle/>
          <a:p>
            <a:pPr algn="ctr" indent="0" marL="0">
              <a:buNone/>
            </a:pPr>
            <a:r>
              <a:rPr lang="en-US" sz="1200" dirty="0">
                <a:solidFill>
                  <a:srgbClr val="FFFFFF"/>
                </a:solidFill>
              </a:rPr>
              <a:t>1</a:t>
            </a:r>
            <a:endParaRPr lang="en-US" sz="1200" dirty="0"/>
          </a:p>
        </p:txBody>
      </p:sp>
      <p:sp>
        <p:nvSpPr>
          <p:cNvPr id="14" name="Text 12"/>
          <p:cNvSpPr/>
          <p:nvPr/>
        </p:nvSpPr>
        <p:spPr>
          <a:xfrm>
            <a:off x="731520" y="1463040"/>
            <a:ext cx="1600200" cy="475488"/>
          </a:xfrm>
          <a:prstGeom prst="rect">
            <a:avLst/>
          </a:prstGeom>
          <a:noFill/>
          <a:ln/>
        </p:spPr>
        <p:txBody>
          <a:bodyPr wrap="square" rtlCol="0" anchor="ctr"/>
          <a:lstStyle/>
          <a:p>
            <a:pPr algn="ctr" indent="0" marL="0">
              <a:buNone/>
            </a:pPr>
            <a:r>
              <a:rPr lang="en-US" sz="1200" dirty="0">
                <a:solidFill>
                  <a:srgbClr val="FFFFFF"/>
                </a:solidFill>
              </a:rPr>
              <a:t>tarik</a:t>
            </a:r>
            <a:endParaRPr lang="en-US" sz="1200" dirty="0"/>
          </a:p>
        </p:txBody>
      </p:sp>
      <p:sp>
        <p:nvSpPr>
          <p:cNvPr id="15" name="Text 13"/>
          <p:cNvSpPr/>
          <p:nvPr/>
        </p:nvSpPr>
        <p:spPr>
          <a:xfrm>
            <a:off x="2468880" y="1463040"/>
            <a:ext cx="1508760" cy="475488"/>
          </a:xfrm>
          <a:prstGeom prst="rect">
            <a:avLst/>
          </a:prstGeom>
          <a:noFill/>
          <a:ln/>
        </p:spPr>
        <p:txBody>
          <a:bodyPr wrap="square" rtlCol="0" anchor="ctr"/>
          <a:lstStyle/>
          <a:p>
            <a:pPr algn="ctr" indent="0" marL="0">
              <a:buNone/>
            </a:pPr>
            <a:r>
              <a:rPr lang="en-US" sz="1200" dirty="0">
                <a:solidFill>
                  <a:srgbClr val="00FF88"/>
                </a:solidFill>
              </a:rPr>
              <a:t>4.45%</a:t>
            </a:r>
            <a:endParaRPr lang="en-US" sz="1200" dirty="0"/>
          </a:p>
        </p:txBody>
      </p:sp>
      <p:sp>
        <p:nvSpPr>
          <p:cNvPr id="16" name="Text 14"/>
          <p:cNvSpPr/>
          <p:nvPr/>
        </p:nvSpPr>
        <p:spPr>
          <a:xfrm>
            <a:off x="4114800" y="1463040"/>
            <a:ext cx="1691640" cy="475488"/>
          </a:xfrm>
          <a:prstGeom prst="rect">
            <a:avLst/>
          </a:prstGeom>
          <a:noFill/>
          <a:ln/>
        </p:spPr>
        <p:txBody>
          <a:bodyPr wrap="square" rtlCol="0" anchor="ctr"/>
          <a:lstStyle/>
          <a:p>
            <a:pPr algn="ctr" indent="0" marL="0">
              <a:buNone/>
            </a:pPr>
            <a:r>
              <a:rPr lang="en-US" sz="1200" dirty="0">
                <a:solidFill>
                  <a:srgbClr val="00FF88"/>
                </a:solidFill>
              </a:rPr>
              <a:t>$0.20 ✓</a:t>
            </a:r>
            <a:endParaRPr lang="en-US" sz="1200" dirty="0"/>
          </a:p>
        </p:txBody>
      </p:sp>
      <p:sp>
        <p:nvSpPr>
          <p:cNvPr id="17" name="Text 15"/>
          <p:cNvSpPr/>
          <p:nvPr/>
        </p:nvSpPr>
        <p:spPr>
          <a:xfrm>
            <a:off x="5943600" y="1463040"/>
            <a:ext cx="2103120" cy="475488"/>
          </a:xfrm>
          <a:prstGeom prst="rect">
            <a:avLst/>
          </a:prstGeom>
          <a:noFill/>
          <a:ln/>
        </p:spPr>
        <p:txBody>
          <a:bodyPr wrap="square" rtlCol="0" anchor="ctr"/>
          <a:lstStyle/>
          <a:p>
            <a:pPr algn="ctr" indent="0" marL="0">
              <a:buNone/>
            </a:pPr>
            <a:r>
              <a:rPr lang="en-US" sz="1200" dirty="0">
                <a:solidFill>
                  <a:srgbClr val="00FF88"/>
                </a:solidFill>
              </a:rPr>
              <a:t>+1.14pp</a:t>
            </a:r>
            <a:endParaRPr lang="en-US" sz="1200" dirty="0"/>
          </a:p>
        </p:txBody>
      </p:sp>
      <p:sp>
        <p:nvSpPr>
          <p:cNvPr id="18" name="Text 16"/>
          <p:cNvSpPr/>
          <p:nvPr/>
        </p:nvSpPr>
        <p:spPr>
          <a:xfrm>
            <a:off x="8138160" y="1463040"/>
            <a:ext cx="1920240" cy="475488"/>
          </a:xfrm>
          <a:prstGeom prst="rect">
            <a:avLst/>
          </a:prstGeom>
          <a:noFill/>
          <a:ln/>
        </p:spPr>
        <p:txBody>
          <a:bodyPr wrap="square" rtlCol="0" anchor="ctr"/>
          <a:lstStyle/>
          <a:p>
            <a:pPr algn="ctr" indent="0" marL="0">
              <a:buNone/>
            </a:pPr>
            <a:r>
              <a:rPr lang="en-US" sz="1200" dirty="0">
                <a:solidFill>
                  <a:srgbClr val="FFFFFF"/>
                </a:solidFill>
              </a:rPr>
              <a:t>Macro</a:t>
            </a:r>
            <a:endParaRPr lang="en-US" sz="1200" dirty="0"/>
          </a:p>
        </p:txBody>
      </p:sp>
      <p:sp>
        <p:nvSpPr>
          <p:cNvPr id="19" name="Text 17"/>
          <p:cNvSpPr/>
          <p:nvPr/>
        </p:nvSpPr>
        <p:spPr>
          <a:xfrm>
            <a:off x="10149840" y="1463040"/>
            <a:ext cx="1920240" cy="475488"/>
          </a:xfrm>
          <a:prstGeom prst="rect">
            <a:avLst/>
          </a:prstGeom>
          <a:noFill/>
          <a:ln/>
        </p:spPr>
        <p:txBody>
          <a:bodyPr wrap="square" rtlCol="0" anchor="ctr"/>
          <a:lstStyle/>
          <a:p>
            <a:pPr algn="ctr" indent="0" marL="0">
              <a:buNone/>
            </a:pPr>
            <a:r>
              <a:rPr lang="en-US" sz="1000" b="1" dirty="0">
                <a:solidFill>
                  <a:srgbClr val="00FF88"/>
                </a:solidFill>
              </a:rPr>
              <a:t>SCALE +50%</a:t>
            </a:r>
            <a:endParaRPr lang="en-US" sz="1000" dirty="0"/>
          </a:p>
        </p:txBody>
      </p:sp>
      <p:sp>
        <p:nvSpPr>
          <p:cNvPr id="20" name="Shape 18"/>
          <p:cNvSpPr/>
          <p:nvPr/>
        </p:nvSpPr>
        <p:spPr>
          <a:xfrm>
            <a:off x="320040" y="2039112"/>
            <a:ext cx="11521440" cy="566928"/>
          </a:xfrm>
          <a:prstGeom prst="rect">
            <a:avLst/>
          </a:prstGeom>
          <a:solidFill>
            <a:srgbClr val="374151"/>
          </a:solidFill>
          <a:ln/>
        </p:spPr>
      </p:sp>
      <p:sp>
        <p:nvSpPr>
          <p:cNvPr id="21" name="Text 19"/>
          <p:cNvSpPr/>
          <p:nvPr/>
        </p:nvSpPr>
        <p:spPr>
          <a:xfrm>
            <a:off x="320040" y="2084832"/>
            <a:ext cx="365760" cy="475488"/>
          </a:xfrm>
          <a:prstGeom prst="rect">
            <a:avLst/>
          </a:prstGeom>
          <a:noFill/>
          <a:ln/>
        </p:spPr>
        <p:txBody>
          <a:bodyPr wrap="square" rtlCol="0" anchor="ctr"/>
          <a:lstStyle/>
          <a:p>
            <a:pPr algn="ctr" indent="0" marL="0">
              <a:buNone/>
            </a:pPr>
            <a:r>
              <a:rPr lang="en-US" sz="1200" dirty="0">
                <a:solidFill>
                  <a:srgbClr val="FFFFFF"/>
                </a:solidFill>
              </a:rPr>
              <a:t>2</a:t>
            </a:r>
            <a:endParaRPr lang="en-US" sz="1200" dirty="0"/>
          </a:p>
        </p:txBody>
      </p:sp>
      <p:sp>
        <p:nvSpPr>
          <p:cNvPr id="22" name="Text 20"/>
          <p:cNvSpPr/>
          <p:nvPr/>
        </p:nvSpPr>
        <p:spPr>
          <a:xfrm>
            <a:off x="731520" y="2084832"/>
            <a:ext cx="1600200" cy="475488"/>
          </a:xfrm>
          <a:prstGeom prst="rect">
            <a:avLst/>
          </a:prstGeom>
          <a:noFill/>
          <a:ln/>
        </p:spPr>
        <p:txBody>
          <a:bodyPr wrap="square" rtlCol="0" anchor="ctr"/>
          <a:lstStyle/>
          <a:p>
            <a:pPr algn="ctr" indent="0" marL="0">
              <a:buNone/>
            </a:pPr>
            <a:r>
              <a:rPr lang="en-US" sz="1200" dirty="0">
                <a:solidFill>
                  <a:srgbClr val="FFFFFF"/>
                </a:solidFill>
              </a:rPr>
              <a:t>TenZ</a:t>
            </a:r>
            <a:endParaRPr lang="en-US" sz="1200" dirty="0"/>
          </a:p>
        </p:txBody>
      </p:sp>
      <p:sp>
        <p:nvSpPr>
          <p:cNvPr id="23" name="Text 21"/>
          <p:cNvSpPr/>
          <p:nvPr/>
        </p:nvSpPr>
        <p:spPr>
          <a:xfrm>
            <a:off x="2468880" y="2084832"/>
            <a:ext cx="1508760" cy="475488"/>
          </a:xfrm>
          <a:prstGeom prst="rect">
            <a:avLst/>
          </a:prstGeom>
          <a:noFill/>
          <a:ln/>
        </p:spPr>
        <p:txBody>
          <a:bodyPr wrap="square" rtlCol="0" anchor="ctr"/>
          <a:lstStyle/>
          <a:p>
            <a:pPr algn="ctr" indent="0" marL="0">
              <a:buNone/>
            </a:pPr>
            <a:r>
              <a:rPr lang="en-US" sz="1200" dirty="0">
                <a:solidFill>
                  <a:srgbClr val="FFE033"/>
                </a:solidFill>
              </a:rPr>
              <a:t>3.71%</a:t>
            </a:r>
            <a:endParaRPr lang="en-US" sz="1200" dirty="0"/>
          </a:p>
        </p:txBody>
      </p:sp>
      <p:sp>
        <p:nvSpPr>
          <p:cNvPr id="24" name="Text 22"/>
          <p:cNvSpPr/>
          <p:nvPr/>
        </p:nvSpPr>
        <p:spPr>
          <a:xfrm>
            <a:off x="4114800" y="2084832"/>
            <a:ext cx="1691640" cy="475488"/>
          </a:xfrm>
          <a:prstGeom prst="rect">
            <a:avLst/>
          </a:prstGeom>
          <a:noFill/>
          <a:ln/>
        </p:spPr>
        <p:txBody>
          <a:bodyPr wrap="square" rtlCol="0" anchor="ctr"/>
          <a:lstStyle/>
          <a:p>
            <a:pPr algn="ctr" indent="0" marL="0">
              <a:buNone/>
            </a:pPr>
            <a:r>
              <a:rPr lang="en-US" sz="1200" dirty="0">
                <a:solidFill>
                  <a:srgbClr val="00FF88"/>
                </a:solidFill>
              </a:rPr>
              <a:t>$0.14 ✓</a:t>
            </a:r>
            <a:endParaRPr lang="en-US" sz="1200" dirty="0"/>
          </a:p>
        </p:txBody>
      </p:sp>
      <p:sp>
        <p:nvSpPr>
          <p:cNvPr id="25" name="Text 23"/>
          <p:cNvSpPr/>
          <p:nvPr/>
        </p:nvSpPr>
        <p:spPr>
          <a:xfrm>
            <a:off x="5943600" y="2084832"/>
            <a:ext cx="2103120" cy="475488"/>
          </a:xfrm>
          <a:prstGeom prst="rect">
            <a:avLst/>
          </a:prstGeom>
          <a:noFill/>
          <a:ln/>
        </p:spPr>
        <p:txBody>
          <a:bodyPr wrap="square" rtlCol="0" anchor="ctr"/>
          <a:lstStyle/>
          <a:p>
            <a:pPr algn="ctr" indent="0" marL="0">
              <a:buNone/>
            </a:pPr>
            <a:r>
              <a:rPr lang="en-US" sz="1200" dirty="0">
                <a:solidFill>
                  <a:srgbClr val="FFE033"/>
                </a:solidFill>
              </a:rPr>
              <a:t>-0.65pp</a:t>
            </a:r>
            <a:endParaRPr lang="en-US" sz="1200" dirty="0"/>
          </a:p>
        </p:txBody>
      </p:sp>
      <p:sp>
        <p:nvSpPr>
          <p:cNvPr id="26" name="Text 24"/>
          <p:cNvSpPr/>
          <p:nvPr/>
        </p:nvSpPr>
        <p:spPr>
          <a:xfrm>
            <a:off x="8138160" y="2084832"/>
            <a:ext cx="1920240" cy="475488"/>
          </a:xfrm>
          <a:prstGeom prst="rect">
            <a:avLst/>
          </a:prstGeom>
          <a:noFill/>
          <a:ln/>
        </p:spPr>
        <p:txBody>
          <a:bodyPr wrap="square" rtlCol="0" anchor="ctr"/>
          <a:lstStyle/>
          <a:p>
            <a:pPr algn="ctr" indent="0" marL="0">
              <a:buNone/>
            </a:pPr>
            <a:r>
              <a:rPr lang="en-US" sz="1200" dirty="0">
                <a:solidFill>
                  <a:srgbClr val="FFFFFF"/>
                </a:solidFill>
              </a:rPr>
              <a:t>Macro</a:t>
            </a:r>
            <a:endParaRPr lang="en-US" sz="1200" dirty="0"/>
          </a:p>
        </p:txBody>
      </p:sp>
      <p:sp>
        <p:nvSpPr>
          <p:cNvPr id="27" name="Text 25"/>
          <p:cNvSpPr/>
          <p:nvPr/>
        </p:nvSpPr>
        <p:spPr>
          <a:xfrm>
            <a:off x="10149840" y="2084832"/>
            <a:ext cx="1920240" cy="475488"/>
          </a:xfrm>
          <a:prstGeom prst="rect">
            <a:avLst/>
          </a:prstGeom>
          <a:noFill/>
          <a:ln/>
        </p:spPr>
        <p:txBody>
          <a:bodyPr wrap="square" rtlCol="0" anchor="ctr"/>
          <a:lstStyle/>
          <a:p>
            <a:pPr algn="ctr" indent="0" marL="0">
              <a:buNone/>
            </a:pPr>
            <a:r>
              <a:rPr lang="en-US" sz="1000" b="1" dirty="0">
                <a:solidFill>
                  <a:srgbClr val="00D4FF"/>
                </a:solidFill>
              </a:rPr>
              <a:t>RENEW</a:t>
            </a:r>
            <a:endParaRPr lang="en-US" sz="1000" dirty="0"/>
          </a:p>
        </p:txBody>
      </p:sp>
      <p:sp>
        <p:nvSpPr>
          <p:cNvPr id="28" name="Shape 26"/>
          <p:cNvSpPr/>
          <p:nvPr/>
        </p:nvSpPr>
        <p:spPr>
          <a:xfrm>
            <a:off x="320040" y="2660904"/>
            <a:ext cx="11521440" cy="566928"/>
          </a:xfrm>
          <a:prstGeom prst="rect">
            <a:avLst/>
          </a:prstGeom>
          <a:solidFill>
            <a:srgbClr val="1F2937"/>
          </a:solidFill>
          <a:ln/>
        </p:spPr>
      </p:sp>
      <p:sp>
        <p:nvSpPr>
          <p:cNvPr id="29" name="Text 27"/>
          <p:cNvSpPr/>
          <p:nvPr/>
        </p:nvSpPr>
        <p:spPr>
          <a:xfrm>
            <a:off x="320040" y="2706624"/>
            <a:ext cx="365760" cy="475488"/>
          </a:xfrm>
          <a:prstGeom prst="rect">
            <a:avLst/>
          </a:prstGeom>
          <a:noFill/>
          <a:ln/>
        </p:spPr>
        <p:txBody>
          <a:bodyPr wrap="square" rtlCol="0" anchor="ctr"/>
          <a:lstStyle/>
          <a:p>
            <a:pPr algn="ctr" indent="0" marL="0">
              <a:buNone/>
            </a:pPr>
            <a:r>
              <a:rPr lang="en-US" sz="1200" dirty="0">
                <a:solidFill>
                  <a:srgbClr val="FFFFFF"/>
                </a:solidFill>
              </a:rPr>
              <a:t>3</a:t>
            </a:r>
            <a:endParaRPr lang="en-US" sz="1200" dirty="0"/>
          </a:p>
        </p:txBody>
      </p:sp>
      <p:sp>
        <p:nvSpPr>
          <p:cNvPr id="30" name="Text 28"/>
          <p:cNvSpPr/>
          <p:nvPr/>
        </p:nvSpPr>
        <p:spPr>
          <a:xfrm>
            <a:off x="731520" y="2706624"/>
            <a:ext cx="1600200" cy="475488"/>
          </a:xfrm>
          <a:prstGeom prst="rect">
            <a:avLst/>
          </a:prstGeom>
          <a:noFill/>
          <a:ln/>
        </p:spPr>
        <p:txBody>
          <a:bodyPr wrap="square" rtlCol="0" anchor="ctr"/>
          <a:lstStyle/>
          <a:p>
            <a:pPr algn="ctr" indent="0" marL="0">
              <a:buNone/>
            </a:pPr>
            <a:r>
              <a:rPr lang="en-US" sz="1200" dirty="0">
                <a:solidFill>
                  <a:srgbClr val="FFFFFF"/>
                </a:solidFill>
              </a:rPr>
              <a:t>Kyedae</a:t>
            </a:r>
            <a:endParaRPr lang="en-US" sz="1200" dirty="0"/>
          </a:p>
        </p:txBody>
      </p:sp>
      <p:sp>
        <p:nvSpPr>
          <p:cNvPr id="31" name="Text 29"/>
          <p:cNvSpPr/>
          <p:nvPr/>
        </p:nvSpPr>
        <p:spPr>
          <a:xfrm>
            <a:off x="2468880" y="2706624"/>
            <a:ext cx="1508760" cy="475488"/>
          </a:xfrm>
          <a:prstGeom prst="rect">
            <a:avLst/>
          </a:prstGeom>
          <a:noFill/>
          <a:ln/>
        </p:spPr>
        <p:txBody>
          <a:bodyPr wrap="square" rtlCol="0" anchor="ctr"/>
          <a:lstStyle/>
          <a:p>
            <a:pPr algn="ctr" indent="0" marL="0">
              <a:buNone/>
            </a:pPr>
            <a:r>
              <a:rPr lang="en-US" sz="1200" dirty="0">
                <a:solidFill>
                  <a:srgbClr val="FFE033"/>
                </a:solidFill>
              </a:rPr>
              <a:t>3.28%</a:t>
            </a:r>
            <a:endParaRPr lang="en-US" sz="1200" dirty="0"/>
          </a:p>
        </p:txBody>
      </p:sp>
      <p:sp>
        <p:nvSpPr>
          <p:cNvPr id="32" name="Text 30"/>
          <p:cNvSpPr/>
          <p:nvPr/>
        </p:nvSpPr>
        <p:spPr>
          <a:xfrm>
            <a:off x="4114800" y="2706624"/>
            <a:ext cx="1691640" cy="475488"/>
          </a:xfrm>
          <a:prstGeom prst="rect">
            <a:avLst/>
          </a:prstGeom>
          <a:noFill/>
          <a:ln/>
        </p:spPr>
        <p:txBody>
          <a:bodyPr wrap="square" rtlCol="0" anchor="ctr"/>
          <a:lstStyle/>
          <a:p>
            <a:pPr algn="ctr" indent="0" marL="0">
              <a:buNone/>
            </a:pPr>
            <a:r>
              <a:rPr lang="en-US" sz="1200" dirty="0">
                <a:solidFill>
                  <a:srgbClr val="FFE033"/>
                </a:solidFill>
              </a:rPr>
              <a:t>$0.34 !</a:t>
            </a:r>
            <a:endParaRPr lang="en-US" sz="1200" dirty="0"/>
          </a:p>
        </p:txBody>
      </p:sp>
      <p:sp>
        <p:nvSpPr>
          <p:cNvPr id="33" name="Text 31"/>
          <p:cNvSpPr/>
          <p:nvPr/>
        </p:nvSpPr>
        <p:spPr>
          <a:xfrm>
            <a:off x="5943600" y="2706624"/>
            <a:ext cx="2103120" cy="475488"/>
          </a:xfrm>
          <a:prstGeom prst="rect">
            <a:avLst/>
          </a:prstGeom>
          <a:noFill/>
          <a:ln/>
        </p:spPr>
        <p:txBody>
          <a:bodyPr wrap="square" rtlCol="0" anchor="ctr"/>
          <a:lstStyle/>
          <a:p>
            <a:pPr algn="ctr" indent="0" marL="0">
              <a:buNone/>
            </a:pPr>
            <a:r>
              <a:rPr lang="en-US" sz="1200" dirty="0">
                <a:solidFill>
                  <a:srgbClr val="FF4655"/>
                </a:solidFill>
              </a:rPr>
              <a:t>-1.11pp</a:t>
            </a:r>
            <a:endParaRPr lang="en-US" sz="1200" dirty="0"/>
          </a:p>
        </p:txBody>
      </p:sp>
      <p:sp>
        <p:nvSpPr>
          <p:cNvPr id="34" name="Text 32"/>
          <p:cNvSpPr/>
          <p:nvPr/>
        </p:nvSpPr>
        <p:spPr>
          <a:xfrm>
            <a:off x="8138160" y="2706624"/>
            <a:ext cx="1920240" cy="475488"/>
          </a:xfrm>
          <a:prstGeom prst="rect">
            <a:avLst/>
          </a:prstGeom>
          <a:noFill/>
          <a:ln/>
        </p:spPr>
        <p:txBody>
          <a:bodyPr wrap="square" rtlCol="0" anchor="ctr"/>
          <a:lstStyle/>
          <a:p>
            <a:pPr algn="ctr" indent="0" marL="0">
              <a:buNone/>
            </a:pPr>
            <a:r>
              <a:rPr lang="en-US" sz="1200" dirty="0">
                <a:solidFill>
                  <a:srgbClr val="FFFFFF"/>
                </a:solidFill>
              </a:rPr>
              <a:t>Macro</a:t>
            </a:r>
            <a:endParaRPr lang="en-US" sz="1200" dirty="0"/>
          </a:p>
        </p:txBody>
      </p:sp>
      <p:sp>
        <p:nvSpPr>
          <p:cNvPr id="35" name="Text 33"/>
          <p:cNvSpPr/>
          <p:nvPr/>
        </p:nvSpPr>
        <p:spPr>
          <a:xfrm>
            <a:off x="10149840" y="2706624"/>
            <a:ext cx="1920240" cy="475488"/>
          </a:xfrm>
          <a:prstGeom prst="rect">
            <a:avLst/>
          </a:prstGeom>
          <a:noFill/>
          <a:ln/>
        </p:spPr>
        <p:txBody>
          <a:bodyPr wrap="square" rtlCol="0" anchor="ctr"/>
          <a:lstStyle/>
          <a:p>
            <a:pPr algn="ctr" indent="0" marL="0">
              <a:buNone/>
            </a:pPr>
            <a:r>
              <a:rPr lang="en-US" sz="1000" b="1" dirty="0">
                <a:solidFill>
                  <a:srgbClr val="00D4FF"/>
                </a:solidFill>
              </a:rPr>
              <a:t>RENEW</a:t>
            </a:r>
            <a:endParaRPr lang="en-US" sz="1000" dirty="0"/>
          </a:p>
        </p:txBody>
      </p:sp>
      <p:sp>
        <p:nvSpPr>
          <p:cNvPr id="36" name="Shape 34"/>
          <p:cNvSpPr/>
          <p:nvPr/>
        </p:nvSpPr>
        <p:spPr>
          <a:xfrm>
            <a:off x="320040" y="3282696"/>
            <a:ext cx="11521440" cy="566928"/>
          </a:xfrm>
          <a:prstGeom prst="rect">
            <a:avLst/>
          </a:prstGeom>
          <a:solidFill>
            <a:srgbClr val="374151"/>
          </a:solidFill>
          <a:ln/>
        </p:spPr>
      </p:sp>
      <p:sp>
        <p:nvSpPr>
          <p:cNvPr id="37" name="Text 35"/>
          <p:cNvSpPr/>
          <p:nvPr/>
        </p:nvSpPr>
        <p:spPr>
          <a:xfrm>
            <a:off x="320040" y="3328416"/>
            <a:ext cx="365760" cy="475488"/>
          </a:xfrm>
          <a:prstGeom prst="rect">
            <a:avLst/>
          </a:prstGeom>
          <a:noFill/>
          <a:ln/>
        </p:spPr>
        <p:txBody>
          <a:bodyPr wrap="square" rtlCol="0" anchor="ctr"/>
          <a:lstStyle/>
          <a:p>
            <a:pPr algn="ctr" indent="0" marL="0">
              <a:buNone/>
            </a:pPr>
            <a:r>
              <a:rPr lang="en-US" sz="1200" dirty="0">
                <a:solidFill>
                  <a:srgbClr val="FFFFFF"/>
                </a:solidFill>
              </a:rPr>
              <a:t>4</a:t>
            </a:r>
            <a:endParaRPr lang="en-US" sz="1200" dirty="0"/>
          </a:p>
        </p:txBody>
      </p:sp>
      <p:sp>
        <p:nvSpPr>
          <p:cNvPr id="38" name="Text 36"/>
          <p:cNvSpPr/>
          <p:nvPr/>
        </p:nvSpPr>
        <p:spPr>
          <a:xfrm>
            <a:off x="731520" y="3328416"/>
            <a:ext cx="1600200" cy="475488"/>
          </a:xfrm>
          <a:prstGeom prst="rect">
            <a:avLst/>
          </a:prstGeom>
          <a:noFill/>
          <a:ln/>
        </p:spPr>
        <p:txBody>
          <a:bodyPr wrap="square" rtlCol="0" anchor="ctr"/>
          <a:lstStyle/>
          <a:p>
            <a:pPr algn="ctr" indent="0" marL="0">
              <a:buNone/>
            </a:pPr>
            <a:r>
              <a:rPr lang="en-US" sz="1200" dirty="0">
                <a:solidFill>
                  <a:srgbClr val="FFFFFF"/>
                </a:solidFill>
              </a:rPr>
              <a:t>Sinatraa</a:t>
            </a:r>
            <a:endParaRPr lang="en-US" sz="1200" dirty="0"/>
          </a:p>
        </p:txBody>
      </p:sp>
      <p:sp>
        <p:nvSpPr>
          <p:cNvPr id="39" name="Text 37"/>
          <p:cNvSpPr/>
          <p:nvPr/>
        </p:nvSpPr>
        <p:spPr>
          <a:xfrm>
            <a:off x="2468880" y="3328416"/>
            <a:ext cx="1508760" cy="475488"/>
          </a:xfrm>
          <a:prstGeom prst="rect">
            <a:avLst/>
          </a:prstGeom>
          <a:noFill/>
          <a:ln/>
        </p:spPr>
        <p:txBody>
          <a:bodyPr wrap="square" rtlCol="0" anchor="ctr"/>
          <a:lstStyle/>
          <a:p>
            <a:pPr algn="ctr" indent="0" marL="0">
              <a:buNone/>
            </a:pPr>
            <a:r>
              <a:rPr lang="en-US" sz="1200" dirty="0">
                <a:solidFill>
                  <a:srgbClr val="FFE033"/>
                </a:solidFill>
              </a:rPr>
              <a:t>2.63%</a:t>
            </a:r>
            <a:endParaRPr lang="en-US" sz="1200" dirty="0"/>
          </a:p>
        </p:txBody>
      </p:sp>
      <p:sp>
        <p:nvSpPr>
          <p:cNvPr id="40" name="Text 38"/>
          <p:cNvSpPr/>
          <p:nvPr/>
        </p:nvSpPr>
        <p:spPr>
          <a:xfrm>
            <a:off x="4114800" y="3328416"/>
            <a:ext cx="1691640" cy="475488"/>
          </a:xfrm>
          <a:prstGeom prst="rect">
            <a:avLst/>
          </a:prstGeom>
          <a:noFill/>
          <a:ln/>
        </p:spPr>
        <p:txBody>
          <a:bodyPr wrap="square" rtlCol="0" anchor="ctr"/>
          <a:lstStyle/>
          <a:p>
            <a:pPr algn="ctr" indent="0" marL="0">
              <a:buNone/>
            </a:pPr>
            <a:r>
              <a:rPr lang="en-US" sz="1200" dirty="0">
                <a:solidFill>
                  <a:srgbClr val="FFE033"/>
                </a:solidFill>
              </a:rPr>
              <a:t>$0.38 !</a:t>
            </a:r>
            <a:endParaRPr lang="en-US" sz="1200" dirty="0"/>
          </a:p>
        </p:txBody>
      </p:sp>
      <p:sp>
        <p:nvSpPr>
          <p:cNvPr id="41" name="Text 39"/>
          <p:cNvSpPr/>
          <p:nvPr/>
        </p:nvSpPr>
        <p:spPr>
          <a:xfrm>
            <a:off x="5943600" y="3328416"/>
            <a:ext cx="2103120" cy="475488"/>
          </a:xfrm>
          <a:prstGeom prst="rect">
            <a:avLst/>
          </a:prstGeom>
          <a:noFill/>
          <a:ln/>
        </p:spPr>
        <p:txBody>
          <a:bodyPr wrap="square" rtlCol="0" anchor="ctr"/>
          <a:lstStyle/>
          <a:p>
            <a:pPr algn="ctr" indent="0" marL="0">
              <a:buNone/>
            </a:pPr>
            <a:r>
              <a:rPr lang="en-US" sz="1200" dirty="0">
                <a:solidFill>
                  <a:srgbClr val="FF4655"/>
                </a:solidFill>
              </a:rPr>
              <a:t>-1.37pp</a:t>
            </a:r>
            <a:endParaRPr lang="en-US" sz="1200" dirty="0"/>
          </a:p>
        </p:txBody>
      </p:sp>
      <p:sp>
        <p:nvSpPr>
          <p:cNvPr id="42" name="Text 40"/>
          <p:cNvSpPr/>
          <p:nvPr/>
        </p:nvSpPr>
        <p:spPr>
          <a:xfrm>
            <a:off x="8138160" y="3328416"/>
            <a:ext cx="1920240" cy="475488"/>
          </a:xfrm>
          <a:prstGeom prst="rect">
            <a:avLst/>
          </a:prstGeom>
          <a:noFill/>
          <a:ln/>
        </p:spPr>
        <p:txBody>
          <a:bodyPr wrap="square" rtlCol="0" anchor="ctr"/>
          <a:lstStyle/>
          <a:p>
            <a:pPr algn="ctr" indent="0" marL="0">
              <a:buNone/>
            </a:pPr>
            <a:r>
              <a:rPr lang="en-US" sz="1200" dirty="0">
                <a:solidFill>
                  <a:srgbClr val="FFFFFF"/>
                </a:solidFill>
              </a:rPr>
              <a:t>Mid</a:t>
            </a:r>
            <a:endParaRPr lang="en-US" sz="1200" dirty="0"/>
          </a:p>
        </p:txBody>
      </p:sp>
      <p:sp>
        <p:nvSpPr>
          <p:cNvPr id="43" name="Text 41"/>
          <p:cNvSpPr/>
          <p:nvPr/>
        </p:nvSpPr>
        <p:spPr>
          <a:xfrm>
            <a:off x="10149840" y="3328416"/>
            <a:ext cx="1920240" cy="475488"/>
          </a:xfrm>
          <a:prstGeom prst="rect">
            <a:avLst/>
          </a:prstGeom>
          <a:noFill/>
          <a:ln/>
        </p:spPr>
        <p:txBody>
          <a:bodyPr wrap="square" rtlCol="0" anchor="ctr"/>
          <a:lstStyle/>
          <a:p>
            <a:pPr algn="ctr" indent="0" marL="0">
              <a:buNone/>
            </a:pPr>
            <a:r>
              <a:rPr lang="en-US" sz="1000" b="1" dirty="0">
                <a:solidFill>
                  <a:srgbClr val="FFE033"/>
                </a:solidFill>
              </a:rPr>
              <a:t>MONITOR</a:t>
            </a:r>
            <a:endParaRPr lang="en-US" sz="1000" dirty="0"/>
          </a:p>
        </p:txBody>
      </p:sp>
      <p:sp>
        <p:nvSpPr>
          <p:cNvPr id="44" name="Shape 42"/>
          <p:cNvSpPr/>
          <p:nvPr/>
        </p:nvSpPr>
        <p:spPr>
          <a:xfrm>
            <a:off x="320040" y="3904488"/>
            <a:ext cx="11521440" cy="566928"/>
          </a:xfrm>
          <a:prstGeom prst="rect">
            <a:avLst/>
          </a:prstGeom>
          <a:solidFill>
            <a:srgbClr val="1F2937"/>
          </a:solidFill>
          <a:ln/>
        </p:spPr>
      </p:sp>
      <p:sp>
        <p:nvSpPr>
          <p:cNvPr id="45" name="Text 43"/>
          <p:cNvSpPr/>
          <p:nvPr/>
        </p:nvSpPr>
        <p:spPr>
          <a:xfrm>
            <a:off x="320040" y="3950208"/>
            <a:ext cx="365760" cy="475488"/>
          </a:xfrm>
          <a:prstGeom prst="rect">
            <a:avLst/>
          </a:prstGeom>
          <a:noFill/>
          <a:ln/>
        </p:spPr>
        <p:txBody>
          <a:bodyPr wrap="square" rtlCol="0" anchor="ctr"/>
          <a:lstStyle/>
          <a:p>
            <a:pPr algn="ctr" indent="0" marL="0">
              <a:buNone/>
            </a:pPr>
            <a:r>
              <a:rPr lang="en-US" sz="1200" dirty="0">
                <a:solidFill>
                  <a:srgbClr val="FFFFFF"/>
                </a:solidFill>
              </a:rPr>
              <a:t>5</a:t>
            </a:r>
            <a:endParaRPr lang="en-US" sz="1200" dirty="0"/>
          </a:p>
        </p:txBody>
      </p:sp>
      <p:sp>
        <p:nvSpPr>
          <p:cNvPr id="46" name="Text 44"/>
          <p:cNvSpPr/>
          <p:nvPr/>
        </p:nvSpPr>
        <p:spPr>
          <a:xfrm>
            <a:off x="731520" y="3950208"/>
            <a:ext cx="1600200" cy="475488"/>
          </a:xfrm>
          <a:prstGeom prst="rect">
            <a:avLst/>
          </a:prstGeom>
          <a:noFill/>
          <a:ln/>
        </p:spPr>
        <p:txBody>
          <a:bodyPr wrap="square" rtlCol="0" anchor="ctr"/>
          <a:lstStyle/>
          <a:p>
            <a:pPr algn="ctr" indent="0" marL="0">
              <a:buNone/>
            </a:pPr>
            <a:r>
              <a:rPr lang="en-US" sz="1200" dirty="0">
                <a:solidFill>
                  <a:srgbClr val="FFFFFF"/>
                </a:solidFill>
              </a:rPr>
              <a:t>Protatomonster</a:t>
            </a:r>
            <a:endParaRPr lang="en-US" sz="1200" dirty="0"/>
          </a:p>
        </p:txBody>
      </p:sp>
      <p:sp>
        <p:nvSpPr>
          <p:cNvPr id="47" name="Text 45"/>
          <p:cNvSpPr/>
          <p:nvPr/>
        </p:nvSpPr>
        <p:spPr>
          <a:xfrm>
            <a:off x="2468880" y="3950208"/>
            <a:ext cx="1508760" cy="475488"/>
          </a:xfrm>
          <a:prstGeom prst="rect">
            <a:avLst/>
          </a:prstGeom>
          <a:noFill/>
          <a:ln/>
        </p:spPr>
        <p:txBody>
          <a:bodyPr wrap="square" rtlCol="0" anchor="ctr"/>
          <a:lstStyle/>
          <a:p>
            <a:pPr algn="ctr" indent="0" marL="0">
              <a:buNone/>
            </a:pPr>
            <a:r>
              <a:rPr lang="en-US" sz="1200" dirty="0">
                <a:solidFill>
                  <a:srgbClr val="FFE033"/>
                </a:solidFill>
              </a:rPr>
              <a:t>2.54%</a:t>
            </a:r>
            <a:endParaRPr lang="en-US" sz="1200" dirty="0"/>
          </a:p>
        </p:txBody>
      </p:sp>
      <p:sp>
        <p:nvSpPr>
          <p:cNvPr id="48" name="Text 46"/>
          <p:cNvSpPr/>
          <p:nvPr/>
        </p:nvSpPr>
        <p:spPr>
          <a:xfrm>
            <a:off x="4114800" y="3950208"/>
            <a:ext cx="1691640" cy="475488"/>
          </a:xfrm>
          <a:prstGeom prst="rect">
            <a:avLst/>
          </a:prstGeom>
          <a:noFill/>
          <a:ln/>
        </p:spPr>
        <p:txBody>
          <a:bodyPr wrap="square" rtlCol="0" anchor="ctr"/>
          <a:lstStyle/>
          <a:p>
            <a:pPr algn="ctr" indent="0" marL="0">
              <a:buNone/>
            </a:pPr>
            <a:r>
              <a:rPr lang="en-US" sz="1200" dirty="0">
                <a:solidFill>
                  <a:srgbClr val="FFE033"/>
                </a:solidFill>
              </a:rPr>
              <a:t>$0.55 !</a:t>
            </a:r>
            <a:endParaRPr lang="en-US" sz="1200" dirty="0"/>
          </a:p>
        </p:txBody>
      </p:sp>
      <p:sp>
        <p:nvSpPr>
          <p:cNvPr id="49" name="Text 47"/>
          <p:cNvSpPr/>
          <p:nvPr/>
        </p:nvSpPr>
        <p:spPr>
          <a:xfrm>
            <a:off x="5943600" y="3950208"/>
            <a:ext cx="2103120" cy="475488"/>
          </a:xfrm>
          <a:prstGeom prst="rect">
            <a:avLst/>
          </a:prstGeom>
          <a:noFill/>
          <a:ln/>
        </p:spPr>
        <p:txBody>
          <a:bodyPr wrap="square" rtlCol="0" anchor="ctr"/>
          <a:lstStyle/>
          <a:p>
            <a:pPr algn="ctr" indent="0" marL="0">
              <a:buNone/>
            </a:pPr>
            <a:r>
              <a:rPr lang="en-US" sz="1200" dirty="0">
                <a:solidFill>
                  <a:srgbClr val="FFE033"/>
                </a:solidFill>
              </a:rPr>
              <a:t>-0.33pp</a:t>
            </a:r>
            <a:endParaRPr lang="en-US" sz="1200" dirty="0"/>
          </a:p>
        </p:txBody>
      </p:sp>
      <p:sp>
        <p:nvSpPr>
          <p:cNvPr id="50" name="Text 48"/>
          <p:cNvSpPr/>
          <p:nvPr/>
        </p:nvSpPr>
        <p:spPr>
          <a:xfrm>
            <a:off x="8138160" y="3950208"/>
            <a:ext cx="1920240" cy="475488"/>
          </a:xfrm>
          <a:prstGeom prst="rect">
            <a:avLst/>
          </a:prstGeom>
          <a:noFill/>
          <a:ln/>
        </p:spPr>
        <p:txBody>
          <a:bodyPr wrap="square" rtlCol="0" anchor="ctr"/>
          <a:lstStyle/>
          <a:p>
            <a:pPr algn="ctr" indent="0" marL="0">
              <a:buNone/>
            </a:pPr>
            <a:r>
              <a:rPr lang="en-US" sz="1200" dirty="0">
                <a:solidFill>
                  <a:srgbClr val="FFFFFF"/>
                </a:solidFill>
              </a:rPr>
              <a:t>Mid</a:t>
            </a:r>
            <a:endParaRPr lang="en-US" sz="1200" dirty="0"/>
          </a:p>
        </p:txBody>
      </p:sp>
      <p:sp>
        <p:nvSpPr>
          <p:cNvPr id="51" name="Text 49"/>
          <p:cNvSpPr/>
          <p:nvPr/>
        </p:nvSpPr>
        <p:spPr>
          <a:xfrm>
            <a:off x="10149840" y="3950208"/>
            <a:ext cx="1920240" cy="475488"/>
          </a:xfrm>
          <a:prstGeom prst="rect">
            <a:avLst/>
          </a:prstGeom>
          <a:noFill/>
          <a:ln/>
        </p:spPr>
        <p:txBody>
          <a:bodyPr wrap="square" rtlCol="0" anchor="ctr"/>
          <a:lstStyle/>
          <a:p>
            <a:pPr algn="ctr" indent="0" marL="0">
              <a:buNone/>
            </a:pPr>
            <a:r>
              <a:rPr lang="en-US" sz="1000" b="1" dirty="0">
                <a:solidFill>
                  <a:srgbClr val="6B7280"/>
                </a:solidFill>
              </a:rPr>
              <a:t>ROTATE OUT</a:t>
            </a:r>
            <a:endParaRPr lang="en-US" sz="1000" dirty="0"/>
          </a:p>
        </p:txBody>
      </p:sp>
      <p:sp>
        <p:nvSpPr>
          <p:cNvPr id="52" name="Shape 50"/>
          <p:cNvSpPr/>
          <p:nvPr/>
        </p:nvSpPr>
        <p:spPr>
          <a:xfrm>
            <a:off x="320040" y="4526280"/>
            <a:ext cx="11521440" cy="566928"/>
          </a:xfrm>
          <a:prstGeom prst="rect">
            <a:avLst/>
          </a:prstGeom>
          <a:solidFill>
            <a:srgbClr val="374151"/>
          </a:solidFill>
          <a:ln/>
        </p:spPr>
      </p:sp>
      <p:sp>
        <p:nvSpPr>
          <p:cNvPr id="53" name="Text 51"/>
          <p:cNvSpPr/>
          <p:nvPr/>
        </p:nvSpPr>
        <p:spPr>
          <a:xfrm>
            <a:off x="320040" y="4572000"/>
            <a:ext cx="365760" cy="475488"/>
          </a:xfrm>
          <a:prstGeom prst="rect">
            <a:avLst/>
          </a:prstGeom>
          <a:noFill/>
          <a:ln/>
        </p:spPr>
        <p:txBody>
          <a:bodyPr wrap="square" rtlCol="0" anchor="ctr"/>
          <a:lstStyle/>
          <a:p>
            <a:pPr algn="ctr" indent="0" marL="0">
              <a:buNone/>
            </a:pPr>
            <a:r>
              <a:rPr lang="en-US" sz="1200" dirty="0">
                <a:solidFill>
                  <a:srgbClr val="FFFFFF"/>
                </a:solidFill>
              </a:rPr>
              <a:t>6</a:t>
            </a:r>
            <a:endParaRPr lang="en-US" sz="1200" dirty="0"/>
          </a:p>
        </p:txBody>
      </p:sp>
      <p:sp>
        <p:nvSpPr>
          <p:cNvPr id="54" name="Text 52"/>
          <p:cNvSpPr/>
          <p:nvPr/>
        </p:nvSpPr>
        <p:spPr>
          <a:xfrm>
            <a:off x="731520" y="4572000"/>
            <a:ext cx="1600200" cy="475488"/>
          </a:xfrm>
          <a:prstGeom prst="rect">
            <a:avLst/>
          </a:prstGeom>
          <a:noFill/>
          <a:ln/>
        </p:spPr>
        <p:txBody>
          <a:bodyPr wrap="square" rtlCol="0" anchor="ctr"/>
          <a:lstStyle/>
          <a:p>
            <a:pPr algn="ctr" indent="0" marL="0">
              <a:buNone/>
            </a:pPr>
            <a:r>
              <a:rPr lang="en-US" sz="1200" dirty="0">
                <a:solidFill>
                  <a:srgbClr val="FFFFFF"/>
                </a:solidFill>
              </a:rPr>
              <a:t>aceu</a:t>
            </a:r>
            <a:endParaRPr lang="en-US" sz="1200" dirty="0"/>
          </a:p>
        </p:txBody>
      </p:sp>
      <p:sp>
        <p:nvSpPr>
          <p:cNvPr id="55" name="Text 53"/>
          <p:cNvSpPr/>
          <p:nvPr/>
        </p:nvSpPr>
        <p:spPr>
          <a:xfrm>
            <a:off x="2468880" y="4572000"/>
            <a:ext cx="1508760" cy="475488"/>
          </a:xfrm>
          <a:prstGeom prst="rect">
            <a:avLst/>
          </a:prstGeom>
          <a:noFill/>
          <a:ln/>
        </p:spPr>
        <p:txBody>
          <a:bodyPr wrap="square" rtlCol="0" anchor="ctr"/>
          <a:lstStyle/>
          <a:p>
            <a:pPr algn="ctr" indent="0" marL="0">
              <a:buNone/>
            </a:pPr>
            <a:r>
              <a:rPr lang="en-US" sz="1200" dirty="0">
                <a:solidFill>
                  <a:srgbClr val="FF4655"/>
                </a:solidFill>
              </a:rPr>
              <a:t>1.23%</a:t>
            </a:r>
            <a:endParaRPr lang="en-US" sz="1200" dirty="0"/>
          </a:p>
        </p:txBody>
      </p:sp>
      <p:sp>
        <p:nvSpPr>
          <p:cNvPr id="56" name="Text 54"/>
          <p:cNvSpPr/>
          <p:nvPr/>
        </p:nvSpPr>
        <p:spPr>
          <a:xfrm>
            <a:off x="4114800" y="4572000"/>
            <a:ext cx="1691640" cy="475488"/>
          </a:xfrm>
          <a:prstGeom prst="rect">
            <a:avLst/>
          </a:prstGeom>
          <a:noFill/>
          <a:ln/>
        </p:spPr>
        <p:txBody>
          <a:bodyPr wrap="square" rtlCol="0" anchor="ctr"/>
          <a:lstStyle/>
          <a:p>
            <a:pPr algn="ctr" indent="0" marL="0">
              <a:buNone/>
            </a:pPr>
            <a:r>
              <a:rPr lang="en-US" sz="1200" dirty="0">
                <a:solidFill>
                  <a:srgbClr val="FF4655"/>
                </a:solidFill>
              </a:rPr>
              <a:t>$3.46 ✗</a:t>
            </a:r>
            <a:endParaRPr lang="en-US" sz="1200" dirty="0"/>
          </a:p>
        </p:txBody>
      </p:sp>
      <p:sp>
        <p:nvSpPr>
          <p:cNvPr id="57" name="Text 55"/>
          <p:cNvSpPr/>
          <p:nvPr/>
        </p:nvSpPr>
        <p:spPr>
          <a:xfrm>
            <a:off x="5943600" y="4572000"/>
            <a:ext cx="2103120" cy="475488"/>
          </a:xfrm>
          <a:prstGeom prst="rect">
            <a:avLst/>
          </a:prstGeom>
          <a:noFill/>
          <a:ln/>
        </p:spPr>
        <p:txBody>
          <a:bodyPr wrap="square" rtlCol="0" anchor="ctr"/>
          <a:lstStyle/>
          <a:p>
            <a:pPr algn="ctr" indent="0" marL="0">
              <a:buNone/>
            </a:pPr>
            <a:r>
              <a:rPr lang="en-US" sz="1200" dirty="0">
                <a:solidFill>
                  <a:srgbClr val="FF4655"/>
                </a:solidFill>
              </a:rPr>
              <a:t>-2.10pp</a:t>
            </a:r>
            <a:endParaRPr lang="en-US" sz="1200" dirty="0"/>
          </a:p>
        </p:txBody>
      </p:sp>
      <p:sp>
        <p:nvSpPr>
          <p:cNvPr id="58" name="Text 56"/>
          <p:cNvSpPr/>
          <p:nvPr/>
        </p:nvSpPr>
        <p:spPr>
          <a:xfrm>
            <a:off x="8138160" y="4572000"/>
            <a:ext cx="1920240" cy="475488"/>
          </a:xfrm>
          <a:prstGeom prst="rect">
            <a:avLst/>
          </a:prstGeom>
          <a:noFill/>
          <a:ln/>
        </p:spPr>
        <p:txBody>
          <a:bodyPr wrap="square" rtlCol="0" anchor="ctr"/>
          <a:lstStyle/>
          <a:p>
            <a:pPr algn="ctr" indent="0" marL="0">
              <a:buNone/>
            </a:pPr>
            <a:r>
              <a:rPr lang="en-US" sz="1200" dirty="0">
                <a:solidFill>
                  <a:srgbClr val="FFFFFF"/>
                </a:solidFill>
              </a:rPr>
              <a:t>Macro</a:t>
            </a:r>
            <a:endParaRPr lang="en-US" sz="1200" dirty="0"/>
          </a:p>
        </p:txBody>
      </p:sp>
      <p:sp>
        <p:nvSpPr>
          <p:cNvPr id="59" name="Text 57"/>
          <p:cNvSpPr/>
          <p:nvPr/>
        </p:nvSpPr>
        <p:spPr>
          <a:xfrm>
            <a:off x="10149840" y="4572000"/>
            <a:ext cx="1920240" cy="475488"/>
          </a:xfrm>
          <a:prstGeom prst="rect">
            <a:avLst/>
          </a:prstGeom>
          <a:noFill/>
          <a:ln/>
        </p:spPr>
        <p:txBody>
          <a:bodyPr wrap="square" rtlCol="0" anchor="ctr"/>
          <a:lstStyle/>
          <a:p>
            <a:pPr algn="ctr" indent="0" marL="0">
              <a:buNone/>
            </a:pPr>
            <a:r>
              <a:rPr lang="en-US" sz="1000" b="1" dirty="0">
                <a:solidFill>
                  <a:srgbClr val="FF4655"/>
                </a:solidFill>
              </a:rPr>
              <a:t>RENEGOTIATE -30%</a:t>
            </a:r>
            <a:endParaRPr lang="en-US" sz="1000" dirty="0"/>
          </a:p>
        </p:txBody>
      </p:sp>
      <p:sp>
        <p:nvSpPr>
          <p:cNvPr id="60" name="Text 58"/>
          <p:cNvSpPr/>
          <p:nvPr/>
        </p:nvSpPr>
        <p:spPr>
          <a:xfrm>
            <a:off x="0" y="6537960"/>
            <a:ext cx="12188952" cy="256032"/>
          </a:xfrm>
          <a:prstGeom prst="rect">
            <a:avLst/>
          </a:prstGeom>
          <a:noFill/>
          <a:ln/>
        </p:spPr>
        <p:txBody>
          <a:bodyPr wrap="square" rtlCol="0" anchor="ctr"/>
          <a:lstStyle/>
          <a:p>
            <a:pPr algn="ctr" indent="0" marL="0">
              <a:buNone/>
            </a:pPr>
            <a:r>
              <a:rPr lang="en-US" sz="1000" dirty="0">
                <a:solidFill>
                  <a:srgbClr val="6B7280"/>
                </a:solidFill>
              </a:rPr>
              <a:t>* Tier definitions: Mega &gt;5M subs | Macro 1M–5M | Mid 500K–1M  ·  CPE is modelled (see Slide 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4655"/>
          </a:solidFill>
          <a:ln/>
        </p:spPr>
      </p:sp>
      <p:sp>
        <p:nvSpPr>
          <p:cNvPr id="3" name="Text 1"/>
          <p:cNvSpPr/>
          <p:nvPr/>
        </p:nvSpPr>
        <p:spPr>
          <a:xfrm>
            <a:off x="457200" y="182880"/>
            <a:ext cx="10972800" cy="502920"/>
          </a:xfrm>
          <a:prstGeom prst="rect">
            <a:avLst/>
          </a:prstGeom>
          <a:noFill/>
          <a:ln/>
        </p:spPr>
        <p:txBody>
          <a:bodyPr wrap="square" rtlCol="0" anchor="ctr"/>
          <a:lstStyle/>
          <a:p>
            <a:pPr indent="0" marL="0">
              <a:buNone/>
            </a:pPr>
            <a:r>
              <a:rPr lang="en-US" sz="2800" b="1" dirty="0">
                <a:solidFill>
                  <a:srgbClr val="FFFFFF"/>
                </a:solidFill>
              </a:rPr>
              <a:t>Key Insights</a:t>
            </a:r>
            <a:endParaRPr lang="en-US" sz="2800" dirty="0"/>
          </a:p>
        </p:txBody>
      </p:sp>
      <p:sp>
        <p:nvSpPr>
          <p:cNvPr id="4" name="Shape 2"/>
          <p:cNvSpPr/>
          <p:nvPr/>
        </p:nvSpPr>
        <p:spPr>
          <a:xfrm>
            <a:off x="320040" y="822960"/>
            <a:ext cx="11521440" cy="1298448"/>
          </a:xfrm>
          <a:prstGeom prst="rect">
            <a:avLst/>
          </a:prstGeom>
          <a:solidFill>
            <a:srgbClr val="1F2937"/>
          </a:solidFill>
          <a:ln/>
        </p:spPr>
      </p:sp>
      <p:sp>
        <p:nvSpPr>
          <p:cNvPr id="5" name="Shape 3"/>
          <p:cNvSpPr/>
          <p:nvPr/>
        </p:nvSpPr>
        <p:spPr>
          <a:xfrm>
            <a:off x="320040" y="822960"/>
            <a:ext cx="164592" cy="1298448"/>
          </a:xfrm>
          <a:prstGeom prst="rect">
            <a:avLst/>
          </a:prstGeom>
          <a:solidFill>
            <a:srgbClr val="FF9500"/>
          </a:solidFill>
          <a:ln/>
        </p:spPr>
      </p:sp>
      <p:sp>
        <p:nvSpPr>
          <p:cNvPr id="6" name="Text 4"/>
          <p:cNvSpPr/>
          <p:nvPr/>
        </p:nvSpPr>
        <p:spPr>
          <a:xfrm>
            <a:off x="594360" y="868680"/>
            <a:ext cx="2743200" cy="256032"/>
          </a:xfrm>
          <a:prstGeom prst="rect">
            <a:avLst/>
          </a:prstGeom>
          <a:noFill/>
          <a:ln/>
        </p:spPr>
        <p:txBody>
          <a:bodyPr wrap="square" rtlCol="0" anchor="ctr"/>
          <a:lstStyle/>
          <a:p>
            <a:pPr indent="0" marL="0">
              <a:buNone/>
            </a:pPr>
            <a:r>
              <a:rPr lang="en-US" sz="1000" b="1" dirty="0">
                <a:solidFill>
                  <a:srgbClr val="FF9500"/>
                </a:solidFill>
              </a:rPr>
              <a:t>CATEGORY HEADWIND</a:t>
            </a:r>
            <a:endParaRPr lang="en-US" sz="1000" dirty="0"/>
          </a:p>
        </p:txBody>
      </p:sp>
      <p:sp>
        <p:nvSpPr>
          <p:cNvPr id="7" name="Text 5"/>
          <p:cNvSpPr/>
          <p:nvPr/>
        </p:nvSpPr>
        <p:spPr>
          <a:xfrm>
            <a:off x="594360" y="1097280"/>
            <a:ext cx="11064240" cy="347472"/>
          </a:xfrm>
          <a:prstGeom prst="rect">
            <a:avLst/>
          </a:prstGeom>
          <a:noFill/>
          <a:ln/>
        </p:spPr>
        <p:txBody>
          <a:bodyPr wrap="square" rtlCol="0" anchor="ctr"/>
          <a:lstStyle/>
          <a:p>
            <a:pPr indent="0" marL="0">
              <a:buNone/>
            </a:pPr>
            <a:r>
              <a:rPr lang="en-US" sz="1300" b="1" dirty="0">
                <a:solidFill>
                  <a:srgbClr val="FFFFFF"/>
                </a:solidFill>
              </a:rPr>
              <a:t>44% Drop in VALORANT Search Interest Q3 → Q4</a:t>
            </a:r>
            <a:endParaRPr lang="en-US" sz="1300" dirty="0"/>
          </a:p>
        </p:txBody>
      </p:sp>
      <p:sp>
        <p:nvSpPr>
          <p:cNvPr id="8" name="Text 6"/>
          <p:cNvSpPr/>
          <p:nvPr/>
        </p:nvSpPr>
        <p:spPr>
          <a:xfrm>
            <a:off x="594360" y="1444752"/>
            <a:ext cx="11064240" cy="594360"/>
          </a:xfrm>
          <a:prstGeom prst="rect">
            <a:avLst/>
          </a:prstGeom>
          <a:noFill/>
          <a:ln/>
        </p:spPr>
        <p:txBody>
          <a:bodyPr wrap="square" rtlCol="0" anchor="ctr"/>
          <a:lstStyle/>
          <a:p>
            <a:pPr indent="0" marL="0">
              <a:buNone/>
            </a:pPr>
            <a:r>
              <a:rPr lang="en-US" sz="1100" dirty="0">
                <a:solidFill>
                  <a:srgbClr val="D1D5DB"/>
                </a:solidFill>
              </a:rPr>
              <a:t>Google Trends (valorant, US): Q3 avg 65.4 vs Q4 avg 36.7. August peak 77.2 during VCT Champions Seoul. Q4 ER compression across the program is partially a category effect — not a creator performance failure. Important context before any budget cuts.</a:t>
            </a:r>
            <a:endParaRPr lang="en-US" sz="1100" dirty="0"/>
          </a:p>
        </p:txBody>
      </p:sp>
      <p:sp>
        <p:nvSpPr>
          <p:cNvPr id="9" name="Shape 7"/>
          <p:cNvSpPr/>
          <p:nvPr/>
        </p:nvSpPr>
        <p:spPr>
          <a:xfrm>
            <a:off x="320040" y="2212848"/>
            <a:ext cx="11521440" cy="1298448"/>
          </a:xfrm>
          <a:prstGeom prst="rect">
            <a:avLst/>
          </a:prstGeom>
          <a:solidFill>
            <a:srgbClr val="1F2937"/>
          </a:solidFill>
          <a:ln/>
        </p:spPr>
      </p:sp>
      <p:sp>
        <p:nvSpPr>
          <p:cNvPr id="10" name="Shape 8"/>
          <p:cNvSpPr/>
          <p:nvPr/>
        </p:nvSpPr>
        <p:spPr>
          <a:xfrm>
            <a:off x="320040" y="2212848"/>
            <a:ext cx="164592" cy="1298448"/>
          </a:xfrm>
          <a:prstGeom prst="rect">
            <a:avLst/>
          </a:prstGeom>
          <a:solidFill>
            <a:srgbClr val="00D4FF"/>
          </a:solidFill>
          <a:ln/>
        </p:spPr>
      </p:sp>
      <p:sp>
        <p:nvSpPr>
          <p:cNvPr id="11" name="Text 9"/>
          <p:cNvSpPr/>
          <p:nvPr/>
        </p:nvSpPr>
        <p:spPr>
          <a:xfrm>
            <a:off x="594360" y="2258568"/>
            <a:ext cx="2743200" cy="256032"/>
          </a:xfrm>
          <a:prstGeom prst="rect">
            <a:avLst/>
          </a:prstGeom>
          <a:noFill/>
          <a:ln/>
        </p:spPr>
        <p:txBody>
          <a:bodyPr wrap="square" rtlCol="0" anchor="ctr"/>
          <a:lstStyle/>
          <a:p>
            <a:pPr indent="0" marL="0">
              <a:buNone/>
            </a:pPr>
            <a:r>
              <a:rPr lang="en-US" sz="1000" b="1" dirty="0">
                <a:solidFill>
                  <a:srgbClr val="00D4FF"/>
                </a:solidFill>
              </a:rPr>
              <a:t>VIRAL NORMALIZATION</a:t>
            </a:r>
            <a:endParaRPr lang="en-US" sz="1000" dirty="0"/>
          </a:p>
        </p:txBody>
      </p:sp>
      <p:sp>
        <p:nvSpPr>
          <p:cNvPr id="12" name="Text 10"/>
          <p:cNvSpPr/>
          <p:nvPr/>
        </p:nvSpPr>
        <p:spPr>
          <a:xfrm>
            <a:off x="594360" y="2487168"/>
            <a:ext cx="11064240" cy="347472"/>
          </a:xfrm>
          <a:prstGeom prst="rect">
            <a:avLst/>
          </a:prstGeom>
          <a:noFill/>
          <a:ln/>
        </p:spPr>
        <p:txBody>
          <a:bodyPr wrap="square" rtlCol="0" anchor="ctr"/>
          <a:lstStyle/>
          <a:p>
            <a:pPr indent="0" marL="0">
              <a:buNone/>
            </a:pPr>
            <a:r>
              <a:rPr lang="en-US" sz="1300" b="1" dirty="0">
                <a:solidFill>
                  <a:srgbClr val="FFFFFF"/>
                </a:solidFill>
              </a:rPr>
              <a:t>TenZ: One 56-Second Short = 78.7% of His Entire Q3 Views</a:t>
            </a:r>
            <a:endParaRPr lang="en-US" sz="1300" dirty="0"/>
          </a:p>
        </p:txBody>
      </p:sp>
      <p:sp>
        <p:nvSpPr>
          <p:cNvPr id="13" name="Text 11"/>
          <p:cNvSpPr/>
          <p:nvPr/>
        </p:nvSpPr>
        <p:spPr>
          <a:xfrm>
            <a:off x="594360" y="2834640"/>
            <a:ext cx="11064240" cy="594360"/>
          </a:xfrm>
          <a:prstGeom prst="rect">
            <a:avLst/>
          </a:prstGeom>
          <a:noFill/>
          <a:ln/>
        </p:spPr>
        <p:txBody>
          <a:bodyPr wrap="square" rtlCol="0" anchor="ctr"/>
          <a:lstStyle/>
          <a:p>
            <a:pPr indent="0" marL="0">
              <a:buNone/>
            </a:pPr>
            <a:r>
              <a:rPr lang="en-US" sz="1100" dirty="0">
                <a:solidFill>
                  <a:srgbClr val="D1D5DB"/>
                </a:solidFill>
              </a:rPr>
              <a:t>Excluding the viral outlier (7.4M views, video ID BiCvVGcuPKE) gives a Q3 ER baseline of 3.58% vs inflated 4.51%. Without normalization, Q4 comparison overstates his decline by +0.93pp. All modelled tables use the normalized figure. Non-normalized data preserved in raw CSV.</a:t>
            </a:r>
            <a:endParaRPr lang="en-US" sz="1100" dirty="0"/>
          </a:p>
        </p:txBody>
      </p:sp>
      <p:sp>
        <p:nvSpPr>
          <p:cNvPr id="14" name="Shape 12"/>
          <p:cNvSpPr/>
          <p:nvPr/>
        </p:nvSpPr>
        <p:spPr>
          <a:xfrm>
            <a:off x="320040" y="3602736"/>
            <a:ext cx="11521440" cy="1298448"/>
          </a:xfrm>
          <a:prstGeom prst="rect">
            <a:avLst/>
          </a:prstGeom>
          <a:solidFill>
            <a:srgbClr val="1F2937"/>
          </a:solidFill>
          <a:ln/>
        </p:spPr>
      </p:sp>
      <p:sp>
        <p:nvSpPr>
          <p:cNvPr id="15" name="Shape 13"/>
          <p:cNvSpPr/>
          <p:nvPr/>
        </p:nvSpPr>
        <p:spPr>
          <a:xfrm>
            <a:off x="320040" y="3602736"/>
            <a:ext cx="164592" cy="1298448"/>
          </a:xfrm>
          <a:prstGeom prst="rect">
            <a:avLst/>
          </a:prstGeom>
          <a:solidFill>
            <a:srgbClr val="00FF88"/>
          </a:solidFill>
          <a:ln/>
        </p:spPr>
      </p:sp>
      <p:sp>
        <p:nvSpPr>
          <p:cNvPr id="16" name="Text 14"/>
          <p:cNvSpPr/>
          <p:nvPr/>
        </p:nvSpPr>
        <p:spPr>
          <a:xfrm>
            <a:off x="594360" y="3648456"/>
            <a:ext cx="2743200" cy="256032"/>
          </a:xfrm>
          <a:prstGeom prst="rect">
            <a:avLst/>
          </a:prstGeom>
          <a:noFill/>
          <a:ln/>
        </p:spPr>
        <p:txBody>
          <a:bodyPr wrap="square" rtlCol="0" anchor="ctr"/>
          <a:lstStyle/>
          <a:p>
            <a:pPr indent="0" marL="0">
              <a:buNone/>
            </a:pPr>
            <a:r>
              <a:rPr lang="en-US" sz="1000" b="1" dirty="0">
                <a:solidFill>
                  <a:srgbClr val="00FF88"/>
                </a:solidFill>
              </a:rPr>
              <a:t>STRONGEST SIGNAL</a:t>
            </a:r>
            <a:endParaRPr lang="en-US" sz="1000" dirty="0"/>
          </a:p>
        </p:txBody>
      </p:sp>
      <p:sp>
        <p:nvSpPr>
          <p:cNvPr id="17" name="Text 15"/>
          <p:cNvSpPr/>
          <p:nvPr/>
        </p:nvSpPr>
        <p:spPr>
          <a:xfrm>
            <a:off x="594360" y="3877056"/>
            <a:ext cx="11064240" cy="347472"/>
          </a:xfrm>
          <a:prstGeom prst="rect">
            <a:avLst/>
          </a:prstGeom>
          <a:noFill/>
          <a:ln/>
        </p:spPr>
        <p:txBody>
          <a:bodyPr wrap="square" rtlCol="0" anchor="ctr"/>
          <a:lstStyle/>
          <a:p>
            <a:pPr indent="0" marL="0">
              <a:buNone/>
            </a:pPr>
            <a:r>
              <a:rPr lang="en-US" sz="1300" b="1" dirty="0">
                <a:solidFill>
                  <a:srgbClr val="FFFFFF"/>
                </a:solidFill>
              </a:rPr>
              <a:t>tarik: +1.14pp ER During a 44% Category Decline — The Only Counter-Cyclical Creator</a:t>
            </a:r>
            <a:endParaRPr lang="en-US" sz="1300" dirty="0"/>
          </a:p>
        </p:txBody>
      </p:sp>
      <p:sp>
        <p:nvSpPr>
          <p:cNvPr id="18" name="Text 16"/>
          <p:cNvSpPr/>
          <p:nvPr/>
        </p:nvSpPr>
        <p:spPr>
          <a:xfrm>
            <a:off x="594360" y="4224528"/>
            <a:ext cx="11064240" cy="594360"/>
          </a:xfrm>
          <a:prstGeom prst="rect">
            <a:avLst/>
          </a:prstGeom>
          <a:noFill/>
          <a:ln/>
        </p:spPr>
        <p:txBody>
          <a:bodyPr wrap="square" rtlCol="0" anchor="ctr"/>
          <a:lstStyle/>
          <a:p>
            <a:pPr indent="0" marL="0">
              <a:buNone/>
            </a:pPr>
            <a:r>
              <a:rPr lang="en-US" sz="1100" dirty="0">
                <a:solidFill>
                  <a:srgbClr val="D1D5DB"/>
                </a:solidFill>
              </a:rPr>
              <a:t>tarik improved engagement while every other creator declined AND the whole VALORANT category fell. This is the hardest performance signal to fake. It suggests genuine audience loyalty that persists beyond game hype cycles. Clearest budget expansion case in the program.</a:t>
            </a:r>
            <a:endParaRPr lang="en-US" sz="1100" dirty="0"/>
          </a:p>
        </p:txBody>
      </p:sp>
      <p:sp>
        <p:nvSpPr>
          <p:cNvPr id="19" name="Shape 17"/>
          <p:cNvSpPr/>
          <p:nvPr/>
        </p:nvSpPr>
        <p:spPr>
          <a:xfrm>
            <a:off x="320040" y="4992624"/>
            <a:ext cx="11521440" cy="1298448"/>
          </a:xfrm>
          <a:prstGeom prst="rect">
            <a:avLst/>
          </a:prstGeom>
          <a:solidFill>
            <a:srgbClr val="1F2937"/>
          </a:solidFill>
          <a:ln/>
        </p:spPr>
      </p:sp>
      <p:sp>
        <p:nvSpPr>
          <p:cNvPr id="20" name="Shape 18"/>
          <p:cNvSpPr/>
          <p:nvPr/>
        </p:nvSpPr>
        <p:spPr>
          <a:xfrm>
            <a:off x="320040" y="4992624"/>
            <a:ext cx="164592" cy="1298448"/>
          </a:xfrm>
          <a:prstGeom prst="rect">
            <a:avLst/>
          </a:prstGeom>
          <a:solidFill>
            <a:srgbClr val="FF4655"/>
          </a:solidFill>
          <a:ln/>
        </p:spPr>
      </p:sp>
      <p:sp>
        <p:nvSpPr>
          <p:cNvPr id="21" name="Text 19"/>
          <p:cNvSpPr/>
          <p:nvPr/>
        </p:nvSpPr>
        <p:spPr>
          <a:xfrm>
            <a:off x="594360" y="5038344"/>
            <a:ext cx="2743200" cy="256032"/>
          </a:xfrm>
          <a:prstGeom prst="rect">
            <a:avLst/>
          </a:prstGeom>
          <a:noFill/>
          <a:ln/>
        </p:spPr>
        <p:txBody>
          <a:bodyPr wrap="square" rtlCol="0" anchor="ctr"/>
          <a:lstStyle/>
          <a:p>
            <a:pPr indent="0" marL="0">
              <a:buNone/>
            </a:pPr>
            <a:r>
              <a:rPr lang="en-US" sz="1000" b="1" dirty="0">
                <a:solidFill>
                  <a:srgbClr val="FF4655"/>
                </a:solidFill>
              </a:rPr>
              <a:t>STRUCTURAL FAILURE</a:t>
            </a:r>
            <a:endParaRPr lang="en-US" sz="1000" dirty="0"/>
          </a:p>
        </p:txBody>
      </p:sp>
      <p:sp>
        <p:nvSpPr>
          <p:cNvPr id="22" name="Text 20"/>
          <p:cNvSpPr/>
          <p:nvPr/>
        </p:nvSpPr>
        <p:spPr>
          <a:xfrm>
            <a:off x="594360" y="5266944"/>
            <a:ext cx="11064240" cy="347472"/>
          </a:xfrm>
          <a:prstGeom prst="rect">
            <a:avLst/>
          </a:prstGeom>
          <a:noFill/>
          <a:ln/>
        </p:spPr>
        <p:txBody>
          <a:bodyPr wrap="square" rtlCol="0" anchor="ctr"/>
          <a:lstStyle/>
          <a:p>
            <a:pPr indent="0" marL="0">
              <a:buNone/>
            </a:pPr>
            <a:r>
              <a:rPr lang="en-US" sz="1300" b="1" dirty="0">
                <a:solidFill>
                  <a:srgbClr val="FFFFFF"/>
                </a:solidFill>
              </a:rPr>
              <a:t>aceu: 1.23% ER — Below 50% of Benchmark Floor for Three Consecutive Months</a:t>
            </a:r>
            <a:endParaRPr lang="en-US" sz="1300" dirty="0"/>
          </a:p>
        </p:txBody>
      </p:sp>
      <p:sp>
        <p:nvSpPr>
          <p:cNvPr id="23" name="Text 21"/>
          <p:cNvSpPr/>
          <p:nvPr/>
        </p:nvSpPr>
        <p:spPr>
          <a:xfrm>
            <a:off x="594360" y="5614416"/>
            <a:ext cx="11064240" cy="594360"/>
          </a:xfrm>
          <a:prstGeom prst="rect">
            <a:avLst/>
          </a:prstGeom>
          <a:noFill/>
          <a:ln/>
        </p:spPr>
        <p:txBody>
          <a:bodyPr wrap="square" rtlCol="0" anchor="ctr"/>
          <a:lstStyle/>
          <a:p>
            <a:pPr indent="0" marL="0">
              <a:buNone/>
            </a:pPr>
            <a:r>
              <a:rPr lang="en-US" sz="1100" dirty="0">
                <a:solidFill>
                  <a:srgbClr val="D1D5DB"/>
                </a:solidFill>
              </a:rPr>
              <a:t>CPE $3.46 = 14× above the Efficient ceiling. Consistent across Oct, Nov, Dec — not a single outlier month dragging the average. At Macro tier (1.8M subs), the ER expectation is lower than the global 3.87% average, but 1.23% is well below even that adjusted bar. This is an audience-fit issue.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4655"/>
          </a:solidFill>
          <a:ln/>
        </p:spPr>
      </p:sp>
      <p:sp>
        <p:nvSpPr>
          <p:cNvPr id="3" name="Text 1"/>
          <p:cNvSpPr/>
          <p:nvPr/>
        </p:nvSpPr>
        <p:spPr>
          <a:xfrm>
            <a:off x="457200" y="182880"/>
            <a:ext cx="10972800" cy="502920"/>
          </a:xfrm>
          <a:prstGeom prst="rect">
            <a:avLst/>
          </a:prstGeom>
          <a:noFill/>
          <a:ln/>
        </p:spPr>
        <p:txBody>
          <a:bodyPr wrap="square" rtlCol="0" anchor="ctr"/>
          <a:lstStyle/>
          <a:p>
            <a:pPr indent="0" marL="0">
              <a:buNone/>
            </a:pPr>
            <a:r>
              <a:rPr lang="en-US" sz="2800" b="1" dirty="0">
                <a:solidFill>
                  <a:srgbClr val="FFFFFF"/>
                </a:solidFill>
              </a:rPr>
              <a:t>3-Layer Measurement Framework</a:t>
            </a:r>
            <a:endParaRPr lang="en-US" sz="2800" dirty="0"/>
          </a:p>
        </p:txBody>
      </p:sp>
      <p:sp>
        <p:nvSpPr>
          <p:cNvPr id="4" name="Text 2"/>
          <p:cNvSpPr/>
          <p:nvPr/>
        </p:nvSpPr>
        <p:spPr>
          <a:xfrm>
            <a:off x="457200" y="658368"/>
            <a:ext cx="10972800" cy="292608"/>
          </a:xfrm>
          <a:prstGeom prst="rect">
            <a:avLst/>
          </a:prstGeom>
          <a:noFill/>
          <a:ln/>
        </p:spPr>
        <p:txBody>
          <a:bodyPr wrap="square" rtlCol="0" anchor="ctr"/>
          <a:lstStyle/>
          <a:p>
            <a:pPr indent="0" marL="0">
              <a:buNone/>
            </a:pPr>
            <a:r>
              <a:rPr lang="en-US" sz="1300" dirty="0">
                <a:solidFill>
                  <a:srgbClr val="00D4FF"/>
                </a:solidFill>
              </a:rPr>
              <a:t>Each layer answers a different business question — layered together they tell the full funnel story</a:t>
            </a:r>
            <a:endParaRPr lang="en-US" sz="1300" dirty="0"/>
          </a:p>
        </p:txBody>
      </p:sp>
      <p:sp>
        <p:nvSpPr>
          <p:cNvPr id="5" name="Shape 3"/>
          <p:cNvSpPr/>
          <p:nvPr/>
        </p:nvSpPr>
        <p:spPr>
          <a:xfrm>
            <a:off x="320040" y="1005840"/>
            <a:ext cx="3749040" cy="5486400"/>
          </a:xfrm>
          <a:prstGeom prst="rect">
            <a:avLst/>
          </a:prstGeom>
          <a:solidFill>
            <a:srgbClr val="1F2937"/>
          </a:solidFill>
          <a:ln w="25400">
            <a:solidFill>
              <a:srgbClr val="00D4FF"/>
            </a:solidFill>
            <a:prstDash val="solid"/>
          </a:ln>
        </p:spPr>
      </p:sp>
      <p:sp>
        <p:nvSpPr>
          <p:cNvPr id="6" name="Shape 4"/>
          <p:cNvSpPr/>
          <p:nvPr/>
        </p:nvSpPr>
        <p:spPr>
          <a:xfrm>
            <a:off x="320040" y="1005840"/>
            <a:ext cx="3749040" cy="502920"/>
          </a:xfrm>
          <a:prstGeom prst="rect">
            <a:avLst/>
          </a:prstGeom>
          <a:solidFill>
            <a:srgbClr val="00D4FF"/>
          </a:solidFill>
          <a:ln/>
        </p:spPr>
      </p:sp>
      <p:sp>
        <p:nvSpPr>
          <p:cNvPr id="7" name="Text 5"/>
          <p:cNvSpPr/>
          <p:nvPr/>
        </p:nvSpPr>
        <p:spPr>
          <a:xfrm>
            <a:off x="320040" y="1033272"/>
            <a:ext cx="3749040" cy="438912"/>
          </a:xfrm>
          <a:prstGeom prst="rect">
            <a:avLst/>
          </a:prstGeom>
          <a:noFill/>
          <a:ln/>
        </p:spPr>
        <p:txBody>
          <a:bodyPr wrap="square" rtlCol="0" anchor="ctr"/>
          <a:lstStyle/>
          <a:p>
            <a:pPr algn="ctr" indent="0" marL="0">
              <a:buNone/>
            </a:pPr>
            <a:r>
              <a:rPr lang="en-US" sz="1400" b="1" dirty="0">
                <a:solidFill>
                  <a:srgbClr val="0F1923"/>
                </a:solidFill>
              </a:rPr>
              <a:t>01  AWARENESS</a:t>
            </a:r>
            <a:endParaRPr lang="en-US" sz="1400" dirty="0"/>
          </a:p>
        </p:txBody>
      </p:sp>
      <p:sp>
        <p:nvSpPr>
          <p:cNvPr id="8" name="Text 6"/>
          <p:cNvSpPr/>
          <p:nvPr/>
        </p:nvSpPr>
        <p:spPr>
          <a:xfrm>
            <a:off x="411480" y="1581912"/>
            <a:ext cx="3566160" cy="411480"/>
          </a:xfrm>
          <a:prstGeom prst="rect">
            <a:avLst/>
          </a:prstGeom>
          <a:noFill/>
          <a:ln/>
        </p:spPr>
        <p:txBody>
          <a:bodyPr wrap="square" rtlCol="0" anchor="ctr"/>
          <a:lstStyle/>
          <a:p>
            <a:pPr algn="ctr" indent="0" marL="0">
              <a:buNone/>
            </a:pPr>
            <a:r>
              <a:rPr lang="en-US" sz="1200" dirty="0">
                <a:solidFill>
                  <a:srgbClr val="00D4FF"/>
                </a:solidFill>
              </a:rPr>
              <a:t>How many people did we reach?</a:t>
            </a:r>
            <a:endParaRPr lang="en-US" sz="1200" dirty="0"/>
          </a:p>
        </p:txBody>
      </p:sp>
      <p:sp>
        <p:nvSpPr>
          <p:cNvPr id="9" name="Shape 7"/>
          <p:cNvSpPr/>
          <p:nvPr/>
        </p:nvSpPr>
        <p:spPr>
          <a:xfrm>
            <a:off x="429768" y="2057400"/>
            <a:ext cx="3520440" cy="868680"/>
          </a:xfrm>
          <a:prstGeom prst="rect">
            <a:avLst/>
          </a:prstGeom>
          <a:solidFill>
            <a:srgbClr val="374151"/>
          </a:solidFill>
          <a:ln/>
        </p:spPr>
      </p:sp>
      <p:sp>
        <p:nvSpPr>
          <p:cNvPr id="10" name="Text 8"/>
          <p:cNvSpPr/>
          <p:nvPr/>
        </p:nvSpPr>
        <p:spPr>
          <a:xfrm>
            <a:off x="484632" y="2103120"/>
            <a:ext cx="3401568" cy="777240"/>
          </a:xfrm>
          <a:prstGeom prst="rect">
            <a:avLst/>
          </a:prstGeom>
          <a:noFill/>
          <a:ln/>
        </p:spPr>
        <p:txBody>
          <a:bodyPr wrap="square" rtlCol="0" anchor="ctr"/>
          <a:lstStyle/>
          <a:p>
            <a:pPr indent="0" marL="0">
              <a:buNone/>
            </a:pPr>
            <a:r>
              <a:rPr lang="en-US" sz="1100" dirty="0">
                <a:solidFill>
                  <a:srgbClr val="FFFFFF"/>
                </a:solidFill>
              </a:rPr>
              <a:t>• Total Views</a:t>
            </a:r>
            <a:endParaRPr lang="en-US" sz="1100" dirty="0"/>
          </a:p>
        </p:txBody>
      </p:sp>
      <p:sp>
        <p:nvSpPr>
          <p:cNvPr id="11" name="Shape 9"/>
          <p:cNvSpPr/>
          <p:nvPr/>
        </p:nvSpPr>
        <p:spPr>
          <a:xfrm>
            <a:off x="429768" y="3017520"/>
            <a:ext cx="3520440" cy="868680"/>
          </a:xfrm>
          <a:prstGeom prst="rect">
            <a:avLst/>
          </a:prstGeom>
          <a:solidFill>
            <a:srgbClr val="374151"/>
          </a:solidFill>
          <a:ln/>
        </p:spPr>
      </p:sp>
      <p:sp>
        <p:nvSpPr>
          <p:cNvPr id="12" name="Text 10"/>
          <p:cNvSpPr/>
          <p:nvPr/>
        </p:nvSpPr>
        <p:spPr>
          <a:xfrm>
            <a:off x="484632" y="3063240"/>
            <a:ext cx="3401568" cy="777240"/>
          </a:xfrm>
          <a:prstGeom prst="rect">
            <a:avLst/>
          </a:prstGeom>
          <a:noFill/>
          <a:ln/>
        </p:spPr>
        <p:txBody>
          <a:bodyPr wrap="square" rtlCol="0" anchor="ctr"/>
          <a:lstStyle/>
          <a:p>
            <a:pPr indent="0" marL="0">
              <a:buNone/>
            </a:pPr>
            <a:r>
              <a:rPr lang="en-US" sz="1100" dirty="0">
                <a:solidFill>
                  <a:srgbClr val="FFFFFF"/>
                </a:solidFill>
              </a:rPr>
              <a:t>• Views / Day (velocity)</a:t>
            </a:r>
            <a:endParaRPr lang="en-US" sz="1100" dirty="0"/>
          </a:p>
        </p:txBody>
      </p:sp>
      <p:sp>
        <p:nvSpPr>
          <p:cNvPr id="13" name="Shape 11"/>
          <p:cNvSpPr/>
          <p:nvPr/>
        </p:nvSpPr>
        <p:spPr>
          <a:xfrm>
            <a:off x="429768" y="3977640"/>
            <a:ext cx="3520440" cy="868680"/>
          </a:xfrm>
          <a:prstGeom prst="rect">
            <a:avLst/>
          </a:prstGeom>
          <a:solidFill>
            <a:srgbClr val="374151"/>
          </a:solidFill>
          <a:ln/>
        </p:spPr>
      </p:sp>
      <p:sp>
        <p:nvSpPr>
          <p:cNvPr id="14" name="Text 12"/>
          <p:cNvSpPr/>
          <p:nvPr/>
        </p:nvSpPr>
        <p:spPr>
          <a:xfrm>
            <a:off x="484632" y="4023360"/>
            <a:ext cx="3401568" cy="777240"/>
          </a:xfrm>
          <a:prstGeom prst="rect">
            <a:avLst/>
          </a:prstGeom>
          <a:noFill/>
          <a:ln/>
        </p:spPr>
        <p:txBody>
          <a:bodyPr wrap="square" rtlCol="0" anchor="ctr"/>
          <a:lstStyle/>
          <a:p>
            <a:pPr indent="0" marL="0">
              <a:buNone/>
            </a:pPr>
            <a:r>
              <a:rPr lang="en-US" sz="1100" dirty="0">
                <a:solidFill>
                  <a:srgbClr val="FFFFFF"/>
                </a:solidFill>
              </a:rPr>
              <a:t>• Reach Index: views × (1 + ER/100)</a:t>
            </a:r>
            <a:endParaRPr lang="en-US" sz="1100" dirty="0"/>
          </a:p>
        </p:txBody>
      </p:sp>
      <p:sp>
        <p:nvSpPr>
          <p:cNvPr id="15" name="Shape 13"/>
          <p:cNvSpPr/>
          <p:nvPr/>
        </p:nvSpPr>
        <p:spPr>
          <a:xfrm>
            <a:off x="429768" y="4937760"/>
            <a:ext cx="3520440" cy="868680"/>
          </a:xfrm>
          <a:prstGeom prst="rect">
            <a:avLst/>
          </a:prstGeom>
          <a:solidFill>
            <a:srgbClr val="374151"/>
          </a:solidFill>
          <a:ln/>
        </p:spPr>
      </p:sp>
      <p:sp>
        <p:nvSpPr>
          <p:cNvPr id="16" name="Text 14"/>
          <p:cNvSpPr/>
          <p:nvPr/>
        </p:nvSpPr>
        <p:spPr>
          <a:xfrm>
            <a:off x="484632" y="4983480"/>
            <a:ext cx="3401568" cy="777240"/>
          </a:xfrm>
          <a:prstGeom prst="rect">
            <a:avLst/>
          </a:prstGeom>
          <a:noFill/>
          <a:ln/>
        </p:spPr>
        <p:txBody>
          <a:bodyPr wrap="square" rtlCol="0" anchor="ctr"/>
          <a:lstStyle/>
          <a:p>
            <a:pPr indent="0" marL="0">
              <a:buNone/>
            </a:pPr>
            <a:r>
              <a:rPr lang="en-US" sz="1100" dirty="0">
                <a:solidFill>
                  <a:srgbClr val="FFFFFF"/>
                </a:solidFill>
              </a:rPr>
              <a:t>• Google Trends search interest</a:t>
            </a:r>
            <a:endParaRPr lang="en-US" sz="1100" dirty="0"/>
          </a:p>
        </p:txBody>
      </p:sp>
      <p:sp>
        <p:nvSpPr>
          <p:cNvPr id="17" name="Shape 15"/>
          <p:cNvSpPr/>
          <p:nvPr/>
        </p:nvSpPr>
        <p:spPr>
          <a:xfrm>
            <a:off x="429768" y="5897880"/>
            <a:ext cx="3520440" cy="502920"/>
          </a:xfrm>
          <a:prstGeom prst="rect">
            <a:avLst/>
          </a:prstGeom>
          <a:solidFill>
            <a:srgbClr val="111827"/>
          </a:solidFill>
          <a:ln w="12700">
            <a:solidFill>
              <a:srgbClr val="00D4FF"/>
            </a:solidFill>
            <a:prstDash val="solid"/>
          </a:ln>
        </p:spPr>
      </p:sp>
      <p:sp>
        <p:nvSpPr>
          <p:cNvPr id="18" name="Text 16"/>
          <p:cNvSpPr/>
          <p:nvPr/>
        </p:nvSpPr>
        <p:spPr>
          <a:xfrm>
            <a:off x="457200" y="5916168"/>
            <a:ext cx="3474720" cy="457200"/>
          </a:xfrm>
          <a:prstGeom prst="rect">
            <a:avLst/>
          </a:prstGeom>
          <a:noFill/>
          <a:ln/>
        </p:spPr>
        <p:txBody>
          <a:bodyPr wrap="square" rtlCol="0" anchor="ctr"/>
          <a:lstStyle/>
          <a:p>
            <a:pPr indent="0" marL="0">
              <a:buNone/>
            </a:pPr>
            <a:r>
              <a:rPr lang="en-US" sz="900" dirty="0">
                <a:solidFill>
                  <a:srgbClr val="FF9500"/>
                </a:solidFill>
              </a:rPr>
              <a:t>⚠  What's missing: unique reach (YouTube doesn't expose unduplicated reach via public API)</a:t>
            </a:r>
            <a:endParaRPr lang="en-US" sz="900" dirty="0"/>
          </a:p>
        </p:txBody>
      </p:sp>
      <p:sp>
        <p:nvSpPr>
          <p:cNvPr id="19" name="Shape 17"/>
          <p:cNvSpPr/>
          <p:nvPr/>
        </p:nvSpPr>
        <p:spPr>
          <a:xfrm>
            <a:off x="4251960" y="1005840"/>
            <a:ext cx="3749040" cy="5486400"/>
          </a:xfrm>
          <a:prstGeom prst="rect">
            <a:avLst/>
          </a:prstGeom>
          <a:solidFill>
            <a:srgbClr val="1F2937"/>
          </a:solidFill>
          <a:ln w="25400">
            <a:solidFill>
              <a:srgbClr val="FFE033"/>
            </a:solidFill>
            <a:prstDash val="solid"/>
          </a:ln>
        </p:spPr>
      </p:sp>
      <p:sp>
        <p:nvSpPr>
          <p:cNvPr id="20" name="Shape 18"/>
          <p:cNvSpPr/>
          <p:nvPr/>
        </p:nvSpPr>
        <p:spPr>
          <a:xfrm>
            <a:off x="4251960" y="1005840"/>
            <a:ext cx="3749040" cy="502920"/>
          </a:xfrm>
          <a:prstGeom prst="rect">
            <a:avLst/>
          </a:prstGeom>
          <a:solidFill>
            <a:srgbClr val="FFE033"/>
          </a:solidFill>
          <a:ln/>
        </p:spPr>
      </p:sp>
      <p:sp>
        <p:nvSpPr>
          <p:cNvPr id="21" name="Text 19"/>
          <p:cNvSpPr/>
          <p:nvPr/>
        </p:nvSpPr>
        <p:spPr>
          <a:xfrm>
            <a:off x="4251960" y="1033272"/>
            <a:ext cx="3749040" cy="438912"/>
          </a:xfrm>
          <a:prstGeom prst="rect">
            <a:avLst/>
          </a:prstGeom>
          <a:noFill/>
          <a:ln/>
        </p:spPr>
        <p:txBody>
          <a:bodyPr wrap="square" rtlCol="0" anchor="ctr"/>
          <a:lstStyle/>
          <a:p>
            <a:pPr algn="ctr" indent="0" marL="0">
              <a:buNone/>
            </a:pPr>
            <a:r>
              <a:rPr lang="en-US" sz="1400" b="1" dirty="0">
                <a:solidFill>
                  <a:srgbClr val="0F1923"/>
                </a:solidFill>
              </a:rPr>
              <a:t>02  ENGAGEMENT</a:t>
            </a:r>
            <a:endParaRPr lang="en-US" sz="1400" dirty="0"/>
          </a:p>
        </p:txBody>
      </p:sp>
      <p:sp>
        <p:nvSpPr>
          <p:cNvPr id="22" name="Text 20"/>
          <p:cNvSpPr/>
          <p:nvPr/>
        </p:nvSpPr>
        <p:spPr>
          <a:xfrm>
            <a:off x="4343400" y="1581912"/>
            <a:ext cx="3566160" cy="411480"/>
          </a:xfrm>
          <a:prstGeom prst="rect">
            <a:avLst/>
          </a:prstGeom>
          <a:noFill/>
          <a:ln/>
        </p:spPr>
        <p:txBody>
          <a:bodyPr wrap="square" rtlCol="0" anchor="ctr"/>
          <a:lstStyle/>
          <a:p>
            <a:pPr algn="ctr" indent="0" marL="0">
              <a:buNone/>
            </a:pPr>
            <a:r>
              <a:rPr lang="en-US" sz="1200" dirty="0">
                <a:solidFill>
                  <a:srgbClr val="FFE033"/>
                </a:solidFill>
              </a:rPr>
              <a:t>Did audiences actually care?</a:t>
            </a:r>
            <a:endParaRPr lang="en-US" sz="1200" dirty="0"/>
          </a:p>
        </p:txBody>
      </p:sp>
      <p:sp>
        <p:nvSpPr>
          <p:cNvPr id="23" name="Shape 21"/>
          <p:cNvSpPr/>
          <p:nvPr/>
        </p:nvSpPr>
        <p:spPr>
          <a:xfrm>
            <a:off x="4361688" y="2057400"/>
            <a:ext cx="3520440" cy="868680"/>
          </a:xfrm>
          <a:prstGeom prst="rect">
            <a:avLst/>
          </a:prstGeom>
          <a:solidFill>
            <a:srgbClr val="374151"/>
          </a:solidFill>
          <a:ln/>
        </p:spPr>
      </p:sp>
      <p:sp>
        <p:nvSpPr>
          <p:cNvPr id="24" name="Text 22"/>
          <p:cNvSpPr/>
          <p:nvPr/>
        </p:nvSpPr>
        <p:spPr>
          <a:xfrm>
            <a:off x="4416552" y="2103120"/>
            <a:ext cx="3401568" cy="777240"/>
          </a:xfrm>
          <a:prstGeom prst="rect">
            <a:avLst/>
          </a:prstGeom>
          <a:noFill/>
          <a:ln/>
        </p:spPr>
        <p:txBody>
          <a:bodyPr wrap="square" rtlCol="0" anchor="ctr"/>
          <a:lstStyle/>
          <a:p>
            <a:pPr indent="0" marL="0">
              <a:buNone/>
            </a:pPr>
            <a:r>
              <a:rPr lang="en-US" sz="1100" dirty="0">
                <a:solidFill>
                  <a:srgbClr val="FFFFFF"/>
                </a:solidFill>
              </a:rPr>
              <a:t>• Engagement Rate: (likes+comments)÷views×100</a:t>
            </a:r>
            <a:endParaRPr lang="en-US" sz="1100" dirty="0"/>
          </a:p>
        </p:txBody>
      </p:sp>
      <p:sp>
        <p:nvSpPr>
          <p:cNvPr id="25" name="Shape 23"/>
          <p:cNvSpPr/>
          <p:nvPr/>
        </p:nvSpPr>
        <p:spPr>
          <a:xfrm>
            <a:off x="4361688" y="3017520"/>
            <a:ext cx="3520440" cy="868680"/>
          </a:xfrm>
          <a:prstGeom prst="rect">
            <a:avLst/>
          </a:prstGeom>
          <a:solidFill>
            <a:srgbClr val="374151"/>
          </a:solidFill>
          <a:ln/>
        </p:spPr>
      </p:sp>
      <p:sp>
        <p:nvSpPr>
          <p:cNvPr id="26" name="Text 24"/>
          <p:cNvSpPr/>
          <p:nvPr/>
        </p:nvSpPr>
        <p:spPr>
          <a:xfrm>
            <a:off x="4416552" y="3063240"/>
            <a:ext cx="3401568" cy="777240"/>
          </a:xfrm>
          <a:prstGeom prst="rect">
            <a:avLst/>
          </a:prstGeom>
          <a:noFill/>
          <a:ln/>
        </p:spPr>
        <p:txBody>
          <a:bodyPr wrap="square" rtlCol="0" anchor="ctr"/>
          <a:lstStyle/>
          <a:p>
            <a:pPr indent="0" marL="0">
              <a:buNone/>
            </a:pPr>
            <a:r>
              <a:rPr lang="en-US" sz="1100" dirty="0">
                <a:solidFill>
                  <a:srgbClr val="FFFFFF"/>
                </a:solidFill>
              </a:rPr>
              <a:t>• Quality Engagement Index: comments ×3 weight</a:t>
            </a:r>
            <a:endParaRPr lang="en-US" sz="1100" dirty="0"/>
          </a:p>
        </p:txBody>
      </p:sp>
      <p:sp>
        <p:nvSpPr>
          <p:cNvPr id="27" name="Shape 25"/>
          <p:cNvSpPr/>
          <p:nvPr/>
        </p:nvSpPr>
        <p:spPr>
          <a:xfrm>
            <a:off x="4361688" y="3977640"/>
            <a:ext cx="3520440" cy="868680"/>
          </a:xfrm>
          <a:prstGeom prst="rect">
            <a:avLst/>
          </a:prstGeom>
          <a:solidFill>
            <a:srgbClr val="374151"/>
          </a:solidFill>
          <a:ln/>
        </p:spPr>
      </p:sp>
      <p:sp>
        <p:nvSpPr>
          <p:cNvPr id="28" name="Text 26"/>
          <p:cNvSpPr/>
          <p:nvPr/>
        </p:nvSpPr>
        <p:spPr>
          <a:xfrm>
            <a:off x="4416552" y="4023360"/>
            <a:ext cx="3401568" cy="777240"/>
          </a:xfrm>
          <a:prstGeom prst="rect">
            <a:avLst/>
          </a:prstGeom>
          <a:noFill/>
          <a:ln/>
        </p:spPr>
        <p:txBody>
          <a:bodyPr wrap="square" rtlCol="0" anchor="ctr"/>
          <a:lstStyle/>
          <a:p>
            <a:pPr indent="0" marL="0">
              <a:buNone/>
            </a:pPr>
            <a:r>
              <a:rPr lang="en-US" sz="1100" dirty="0">
                <a:solidFill>
                  <a:srgbClr val="FFFFFF"/>
                </a:solidFill>
              </a:rPr>
              <a:t>• Avg Duration (content type proxy)</a:t>
            </a:r>
            <a:endParaRPr lang="en-US" sz="1100" dirty="0"/>
          </a:p>
        </p:txBody>
      </p:sp>
      <p:sp>
        <p:nvSpPr>
          <p:cNvPr id="29" name="Shape 27"/>
          <p:cNvSpPr/>
          <p:nvPr/>
        </p:nvSpPr>
        <p:spPr>
          <a:xfrm>
            <a:off x="4361688" y="4937760"/>
            <a:ext cx="3520440" cy="868680"/>
          </a:xfrm>
          <a:prstGeom prst="rect">
            <a:avLst/>
          </a:prstGeom>
          <a:solidFill>
            <a:srgbClr val="374151"/>
          </a:solidFill>
          <a:ln/>
        </p:spPr>
      </p:sp>
      <p:sp>
        <p:nvSpPr>
          <p:cNvPr id="30" name="Text 28"/>
          <p:cNvSpPr/>
          <p:nvPr/>
        </p:nvSpPr>
        <p:spPr>
          <a:xfrm>
            <a:off x="4416552" y="4983480"/>
            <a:ext cx="3401568" cy="777240"/>
          </a:xfrm>
          <a:prstGeom prst="rect">
            <a:avLst/>
          </a:prstGeom>
          <a:noFill/>
          <a:ln/>
        </p:spPr>
        <p:txBody>
          <a:bodyPr wrap="square" rtlCol="0" anchor="ctr"/>
          <a:lstStyle/>
          <a:p>
            <a:pPr indent="0" marL="0">
              <a:buNone/>
            </a:pPr>
            <a:r>
              <a:rPr lang="en-US" sz="1100" dirty="0">
                <a:solidFill>
                  <a:srgbClr val="FFFFFF"/>
                </a:solidFill>
              </a:rPr>
              <a:t>• Watch Time: views × dur × 50% completion*</a:t>
            </a:r>
            <a:endParaRPr lang="en-US" sz="1100" dirty="0"/>
          </a:p>
        </p:txBody>
      </p:sp>
      <p:sp>
        <p:nvSpPr>
          <p:cNvPr id="31" name="Shape 29"/>
          <p:cNvSpPr/>
          <p:nvPr/>
        </p:nvSpPr>
        <p:spPr>
          <a:xfrm>
            <a:off x="4361688" y="5897880"/>
            <a:ext cx="3520440" cy="502920"/>
          </a:xfrm>
          <a:prstGeom prst="rect">
            <a:avLst/>
          </a:prstGeom>
          <a:solidFill>
            <a:srgbClr val="111827"/>
          </a:solidFill>
          <a:ln w="12700">
            <a:solidFill>
              <a:srgbClr val="FFE033"/>
            </a:solidFill>
            <a:prstDash val="solid"/>
          </a:ln>
        </p:spPr>
      </p:sp>
      <p:sp>
        <p:nvSpPr>
          <p:cNvPr id="32" name="Text 30"/>
          <p:cNvSpPr/>
          <p:nvPr/>
        </p:nvSpPr>
        <p:spPr>
          <a:xfrm>
            <a:off x="4389120" y="5916168"/>
            <a:ext cx="3474720" cy="457200"/>
          </a:xfrm>
          <a:prstGeom prst="rect">
            <a:avLst/>
          </a:prstGeom>
          <a:noFill/>
          <a:ln/>
        </p:spPr>
        <p:txBody>
          <a:bodyPr wrap="square" rtlCol="0" anchor="ctr"/>
          <a:lstStyle/>
          <a:p>
            <a:pPr indent="0" marL="0">
              <a:buNone/>
            </a:pPr>
            <a:r>
              <a:rPr lang="en-US" sz="900" dirty="0">
                <a:solidFill>
                  <a:srgbClr val="FF9500"/>
                </a:solidFill>
              </a:rPr>
              <a:t>⚠  * 50% completion is modelled — actual completion data requires YouTube Studio access</a:t>
            </a:r>
            <a:endParaRPr lang="en-US" sz="900" dirty="0"/>
          </a:p>
        </p:txBody>
      </p:sp>
      <p:sp>
        <p:nvSpPr>
          <p:cNvPr id="33" name="Shape 31"/>
          <p:cNvSpPr/>
          <p:nvPr/>
        </p:nvSpPr>
        <p:spPr>
          <a:xfrm>
            <a:off x="8183880" y="1005840"/>
            <a:ext cx="3749040" cy="5486400"/>
          </a:xfrm>
          <a:prstGeom prst="rect">
            <a:avLst/>
          </a:prstGeom>
          <a:solidFill>
            <a:srgbClr val="1F2937"/>
          </a:solidFill>
          <a:ln w="25400">
            <a:solidFill>
              <a:srgbClr val="00FF88"/>
            </a:solidFill>
            <a:prstDash val="solid"/>
          </a:ln>
        </p:spPr>
      </p:sp>
      <p:sp>
        <p:nvSpPr>
          <p:cNvPr id="34" name="Shape 32"/>
          <p:cNvSpPr/>
          <p:nvPr/>
        </p:nvSpPr>
        <p:spPr>
          <a:xfrm>
            <a:off x="8183880" y="1005840"/>
            <a:ext cx="3749040" cy="502920"/>
          </a:xfrm>
          <a:prstGeom prst="rect">
            <a:avLst/>
          </a:prstGeom>
          <a:solidFill>
            <a:srgbClr val="00FF88"/>
          </a:solidFill>
          <a:ln/>
        </p:spPr>
      </p:sp>
      <p:sp>
        <p:nvSpPr>
          <p:cNvPr id="35" name="Text 33"/>
          <p:cNvSpPr/>
          <p:nvPr/>
        </p:nvSpPr>
        <p:spPr>
          <a:xfrm>
            <a:off x="8183880" y="1033272"/>
            <a:ext cx="3749040" cy="438912"/>
          </a:xfrm>
          <a:prstGeom prst="rect">
            <a:avLst/>
          </a:prstGeom>
          <a:noFill/>
          <a:ln/>
        </p:spPr>
        <p:txBody>
          <a:bodyPr wrap="square" rtlCol="0" anchor="ctr"/>
          <a:lstStyle/>
          <a:p>
            <a:pPr algn="ctr" indent="0" marL="0">
              <a:buNone/>
            </a:pPr>
            <a:r>
              <a:rPr lang="en-US" sz="1400" b="1" dirty="0">
                <a:solidFill>
                  <a:srgbClr val="0F1923"/>
                </a:solidFill>
              </a:rPr>
              <a:t>03  CONSIDERATION</a:t>
            </a:r>
            <a:endParaRPr lang="en-US" sz="1400" dirty="0"/>
          </a:p>
        </p:txBody>
      </p:sp>
      <p:sp>
        <p:nvSpPr>
          <p:cNvPr id="36" name="Text 34"/>
          <p:cNvSpPr/>
          <p:nvPr/>
        </p:nvSpPr>
        <p:spPr>
          <a:xfrm>
            <a:off x="8275320" y="1581912"/>
            <a:ext cx="3566160" cy="411480"/>
          </a:xfrm>
          <a:prstGeom prst="rect">
            <a:avLst/>
          </a:prstGeom>
          <a:noFill/>
          <a:ln/>
        </p:spPr>
        <p:txBody>
          <a:bodyPr wrap="square" rtlCol="0" anchor="ctr"/>
          <a:lstStyle/>
          <a:p>
            <a:pPr algn="ctr" indent="0" marL="0">
              <a:buNone/>
            </a:pPr>
            <a:r>
              <a:rPr lang="en-US" sz="1200" dirty="0">
                <a:solidFill>
                  <a:srgbClr val="00FF88"/>
                </a:solidFill>
              </a:rPr>
              <a:t>Did we move people down the funnel?</a:t>
            </a:r>
            <a:endParaRPr lang="en-US" sz="1200" dirty="0"/>
          </a:p>
        </p:txBody>
      </p:sp>
      <p:sp>
        <p:nvSpPr>
          <p:cNvPr id="37" name="Shape 35"/>
          <p:cNvSpPr/>
          <p:nvPr/>
        </p:nvSpPr>
        <p:spPr>
          <a:xfrm>
            <a:off x="8293608" y="2057400"/>
            <a:ext cx="3520440" cy="868680"/>
          </a:xfrm>
          <a:prstGeom prst="rect">
            <a:avLst/>
          </a:prstGeom>
          <a:solidFill>
            <a:srgbClr val="374151"/>
          </a:solidFill>
          <a:ln/>
        </p:spPr>
      </p:sp>
      <p:sp>
        <p:nvSpPr>
          <p:cNvPr id="38" name="Text 36"/>
          <p:cNvSpPr/>
          <p:nvPr/>
        </p:nvSpPr>
        <p:spPr>
          <a:xfrm>
            <a:off x="8348472" y="2103120"/>
            <a:ext cx="3401568" cy="777240"/>
          </a:xfrm>
          <a:prstGeom prst="rect">
            <a:avLst/>
          </a:prstGeom>
          <a:noFill/>
          <a:ln/>
        </p:spPr>
        <p:txBody>
          <a:bodyPr wrap="square" rtlCol="0" anchor="ctr"/>
          <a:lstStyle/>
          <a:p>
            <a:pPr indent="0" marL="0">
              <a:buNone/>
            </a:pPr>
            <a:r>
              <a:rPr lang="en-US" sz="1100" dirty="0">
                <a:solidFill>
                  <a:srgbClr val="FFFFFF"/>
                </a:solidFill>
              </a:rPr>
              <a:t>• CPE: est. monthly spend ÷ engagements</a:t>
            </a:r>
            <a:endParaRPr lang="en-US" sz="1100" dirty="0"/>
          </a:p>
        </p:txBody>
      </p:sp>
      <p:sp>
        <p:nvSpPr>
          <p:cNvPr id="39" name="Shape 37"/>
          <p:cNvSpPr/>
          <p:nvPr/>
        </p:nvSpPr>
        <p:spPr>
          <a:xfrm>
            <a:off x="8293608" y="3017520"/>
            <a:ext cx="3520440" cy="868680"/>
          </a:xfrm>
          <a:prstGeom prst="rect">
            <a:avLst/>
          </a:prstGeom>
          <a:solidFill>
            <a:srgbClr val="374151"/>
          </a:solidFill>
          <a:ln/>
        </p:spPr>
      </p:sp>
      <p:sp>
        <p:nvSpPr>
          <p:cNvPr id="40" name="Text 38"/>
          <p:cNvSpPr/>
          <p:nvPr/>
        </p:nvSpPr>
        <p:spPr>
          <a:xfrm>
            <a:off x="8348472" y="3063240"/>
            <a:ext cx="3401568" cy="777240"/>
          </a:xfrm>
          <a:prstGeom prst="rect">
            <a:avLst/>
          </a:prstGeom>
          <a:noFill/>
          <a:ln/>
        </p:spPr>
        <p:txBody>
          <a:bodyPr wrap="square" rtlCol="0" anchor="ctr"/>
          <a:lstStyle/>
          <a:p>
            <a:pPr indent="0" marL="0">
              <a:buNone/>
            </a:pPr>
            <a:r>
              <a:rPr lang="en-US" sz="1100" dirty="0">
                <a:solidFill>
                  <a:srgbClr val="FFFFFF"/>
                </a:solidFill>
              </a:rPr>
              <a:t>• CPE Tier: Efficient ≤$0.11 / Accept ≤$0.25</a:t>
            </a:r>
            <a:endParaRPr lang="en-US" sz="1100" dirty="0"/>
          </a:p>
        </p:txBody>
      </p:sp>
      <p:sp>
        <p:nvSpPr>
          <p:cNvPr id="41" name="Shape 39"/>
          <p:cNvSpPr/>
          <p:nvPr/>
        </p:nvSpPr>
        <p:spPr>
          <a:xfrm>
            <a:off x="8293608" y="3977640"/>
            <a:ext cx="3520440" cy="868680"/>
          </a:xfrm>
          <a:prstGeom prst="rect">
            <a:avLst/>
          </a:prstGeom>
          <a:solidFill>
            <a:srgbClr val="374151"/>
          </a:solidFill>
          <a:ln/>
        </p:spPr>
      </p:sp>
      <p:sp>
        <p:nvSpPr>
          <p:cNvPr id="42" name="Text 40"/>
          <p:cNvSpPr/>
          <p:nvPr/>
        </p:nvSpPr>
        <p:spPr>
          <a:xfrm>
            <a:off x="8348472" y="4023360"/>
            <a:ext cx="3401568" cy="777240"/>
          </a:xfrm>
          <a:prstGeom prst="rect">
            <a:avLst/>
          </a:prstGeom>
          <a:noFill/>
          <a:ln/>
        </p:spPr>
        <p:txBody>
          <a:bodyPr wrap="square" rtlCol="0" anchor="ctr"/>
          <a:lstStyle/>
          <a:p>
            <a:pPr indent="0" marL="0">
              <a:buNone/>
            </a:pPr>
            <a:r>
              <a:rPr lang="en-US" sz="1100" dirty="0">
                <a:solidFill>
                  <a:srgbClr val="FFFFFF"/>
                </a:solidFill>
              </a:rPr>
              <a:t>• ΔER (Q3→Q4): period-over-period proxy</a:t>
            </a:r>
            <a:endParaRPr lang="en-US" sz="1100" dirty="0"/>
          </a:p>
        </p:txBody>
      </p:sp>
      <p:sp>
        <p:nvSpPr>
          <p:cNvPr id="43" name="Shape 41"/>
          <p:cNvSpPr/>
          <p:nvPr/>
        </p:nvSpPr>
        <p:spPr>
          <a:xfrm>
            <a:off x="8293608" y="4937760"/>
            <a:ext cx="3520440" cy="868680"/>
          </a:xfrm>
          <a:prstGeom prst="rect">
            <a:avLst/>
          </a:prstGeom>
          <a:solidFill>
            <a:srgbClr val="374151"/>
          </a:solidFill>
          <a:ln/>
        </p:spPr>
      </p:sp>
      <p:sp>
        <p:nvSpPr>
          <p:cNvPr id="44" name="Text 42"/>
          <p:cNvSpPr/>
          <p:nvPr/>
        </p:nvSpPr>
        <p:spPr>
          <a:xfrm>
            <a:off x="8348472" y="4983480"/>
            <a:ext cx="3401568" cy="777240"/>
          </a:xfrm>
          <a:prstGeom prst="rect">
            <a:avLst/>
          </a:prstGeom>
          <a:noFill/>
          <a:ln/>
        </p:spPr>
        <p:txBody>
          <a:bodyPr wrap="square" rtlCol="0" anchor="ctr"/>
          <a:lstStyle/>
          <a:p>
            <a:pPr indent="0" marL="0">
              <a:buNone/>
            </a:pPr>
            <a:r>
              <a:rPr lang="en-US" sz="1100" dirty="0">
                <a:solidFill>
                  <a:srgbClr val="FFFFFF"/>
                </a:solidFill>
              </a:rPr>
              <a:t>• Incrementality: requires holdout study*</a:t>
            </a:r>
            <a:endParaRPr lang="en-US" sz="1100" dirty="0"/>
          </a:p>
        </p:txBody>
      </p:sp>
      <p:sp>
        <p:nvSpPr>
          <p:cNvPr id="45" name="Shape 43"/>
          <p:cNvSpPr/>
          <p:nvPr/>
        </p:nvSpPr>
        <p:spPr>
          <a:xfrm>
            <a:off x="8293608" y="5897880"/>
            <a:ext cx="3520440" cy="502920"/>
          </a:xfrm>
          <a:prstGeom prst="rect">
            <a:avLst/>
          </a:prstGeom>
          <a:solidFill>
            <a:srgbClr val="111827"/>
          </a:solidFill>
          <a:ln w="12700">
            <a:solidFill>
              <a:srgbClr val="00FF88"/>
            </a:solidFill>
            <a:prstDash val="solid"/>
          </a:ln>
        </p:spPr>
      </p:sp>
      <p:sp>
        <p:nvSpPr>
          <p:cNvPr id="46" name="Text 44"/>
          <p:cNvSpPr/>
          <p:nvPr/>
        </p:nvSpPr>
        <p:spPr>
          <a:xfrm>
            <a:off x="8321040" y="5916168"/>
            <a:ext cx="3474720" cy="457200"/>
          </a:xfrm>
          <a:prstGeom prst="rect">
            <a:avLst/>
          </a:prstGeom>
          <a:noFill/>
          <a:ln/>
        </p:spPr>
        <p:txBody>
          <a:bodyPr wrap="square" rtlCol="0" anchor="ctr"/>
          <a:lstStyle/>
          <a:p>
            <a:pPr indent="0" marL="0">
              <a:buNone/>
            </a:pPr>
            <a:r>
              <a:rPr lang="en-US" sz="900" dirty="0">
                <a:solidFill>
                  <a:srgbClr val="FF9500"/>
                </a:solidFill>
              </a:rPr>
              <a:t>⚠  * True incrementality (causal lift) requires a holdout group or geo-split test — not available here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4655"/>
          </a:solidFill>
          <a:ln/>
        </p:spPr>
      </p:sp>
      <p:sp>
        <p:nvSpPr>
          <p:cNvPr id="3" name="Text 1"/>
          <p:cNvSpPr/>
          <p:nvPr/>
        </p:nvSpPr>
        <p:spPr>
          <a:xfrm>
            <a:off x="457200" y="182880"/>
            <a:ext cx="10972800" cy="502920"/>
          </a:xfrm>
          <a:prstGeom prst="rect">
            <a:avLst/>
          </a:prstGeom>
          <a:noFill/>
          <a:ln/>
        </p:spPr>
        <p:txBody>
          <a:bodyPr wrap="square" rtlCol="0" anchor="ctr"/>
          <a:lstStyle/>
          <a:p>
            <a:pPr indent="0" marL="0">
              <a:buNone/>
            </a:pPr>
            <a:r>
              <a:rPr lang="en-US" sz="2800" b="1" dirty="0">
                <a:solidFill>
                  <a:srgbClr val="FFFFFF"/>
                </a:solidFill>
              </a:rPr>
              <a:t>Q1 2025 Recommendations</a:t>
            </a:r>
            <a:endParaRPr lang="en-US" sz="2800" dirty="0"/>
          </a:p>
        </p:txBody>
      </p:sp>
      <p:sp>
        <p:nvSpPr>
          <p:cNvPr id="4" name="Text 2"/>
          <p:cNvSpPr/>
          <p:nvPr/>
        </p:nvSpPr>
        <p:spPr>
          <a:xfrm>
            <a:off x="320040" y="777240"/>
            <a:ext cx="1645920" cy="320040"/>
          </a:xfrm>
          <a:prstGeom prst="rect">
            <a:avLst/>
          </a:prstGeom>
          <a:solidFill>
            <a:srgbClr val="FF4655"/>
          </a:solidFill>
          <a:ln/>
        </p:spPr>
        <p:txBody>
          <a:bodyPr wrap="square" rtlCol="0" anchor="ctr"/>
          <a:lstStyle/>
          <a:p>
            <a:pPr algn="ctr" indent="0" marL="0">
              <a:buNone/>
            </a:pPr>
            <a:r>
              <a:rPr lang="en-US" sz="1200" b="1" dirty="0">
                <a:solidFill>
                  <a:srgbClr val="FFFFFF"/>
                </a:solidFill>
              </a:rPr>
              <a:t>Action</a:t>
            </a:r>
            <a:endParaRPr lang="en-US" sz="1200" dirty="0"/>
          </a:p>
        </p:txBody>
      </p:sp>
      <p:sp>
        <p:nvSpPr>
          <p:cNvPr id="5" name="Text 3"/>
          <p:cNvSpPr/>
          <p:nvPr/>
        </p:nvSpPr>
        <p:spPr>
          <a:xfrm>
            <a:off x="2057400" y="777240"/>
            <a:ext cx="1600200" cy="320040"/>
          </a:xfrm>
          <a:prstGeom prst="rect">
            <a:avLst/>
          </a:prstGeom>
          <a:solidFill>
            <a:srgbClr val="FF4655"/>
          </a:solidFill>
          <a:ln/>
        </p:spPr>
        <p:txBody>
          <a:bodyPr wrap="square" rtlCol="0" anchor="ctr"/>
          <a:lstStyle/>
          <a:p>
            <a:pPr algn="ctr" indent="0" marL="0">
              <a:buNone/>
            </a:pPr>
            <a:r>
              <a:rPr lang="en-US" sz="1200" b="1" dirty="0">
                <a:solidFill>
                  <a:srgbClr val="FFFFFF"/>
                </a:solidFill>
              </a:rPr>
              <a:t>Creator</a:t>
            </a:r>
            <a:endParaRPr lang="en-US" sz="1200" dirty="0"/>
          </a:p>
        </p:txBody>
      </p:sp>
      <p:sp>
        <p:nvSpPr>
          <p:cNvPr id="6" name="Text 4"/>
          <p:cNvSpPr/>
          <p:nvPr/>
        </p:nvSpPr>
        <p:spPr>
          <a:xfrm>
            <a:off x="3749040" y="777240"/>
            <a:ext cx="1691640" cy="320040"/>
          </a:xfrm>
          <a:prstGeom prst="rect">
            <a:avLst/>
          </a:prstGeom>
          <a:solidFill>
            <a:srgbClr val="FF4655"/>
          </a:solidFill>
          <a:ln/>
        </p:spPr>
        <p:txBody>
          <a:bodyPr wrap="square" rtlCol="0" anchor="ctr"/>
          <a:lstStyle/>
          <a:p>
            <a:pPr algn="ctr" indent="0" marL="0">
              <a:buNone/>
            </a:pPr>
            <a:r>
              <a:rPr lang="en-US" sz="1200" b="1" dirty="0">
                <a:solidFill>
                  <a:srgbClr val="FFFFFF"/>
                </a:solidFill>
              </a:rPr>
              <a:t>Q1 Spend</a:t>
            </a:r>
            <a:endParaRPr lang="en-US" sz="1200" dirty="0"/>
          </a:p>
        </p:txBody>
      </p:sp>
      <p:sp>
        <p:nvSpPr>
          <p:cNvPr id="7" name="Text 5"/>
          <p:cNvSpPr/>
          <p:nvPr/>
        </p:nvSpPr>
        <p:spPr>
          <a:xfrm>
            <a:off x="5532120" y="777240"/>
            <a:ext cx="2468880" cy="320040"/>
          </a:xfrm>
          <a:prstGeom prst="rect">
            <a:avLst/>
          </a:prstGeom>
          <a:solidFill>
            <a:srgbClr val="FF4655"/>
          </a:solidFill>
          <a:ln/>
        </p:spPr>
        <p:txBody>
          <a:bodyPr wrap="square" rtlCol="0" anchor="ctr"/>
          <a:lstStyle/>
          <a:p>
            <a:pPr algn="ctr" indent="0" marL="0">
              <a:buNone/>
            </a:pPr>
            <a:r>
              <a:rPr lang="en-US" sz="1200" b="1" dirty="0">
                <a:solidFill>
                  <a:srgbClr val="FFFFFF"/>
                </a:solidFill>
              </a:rPr>
              <a:t>Signal Strength</a:t>
            </a:r>
            <a:endParaRPr lang="en-US" sz="1200" dirty="0"/>
          </a:p>
        </p:txBody>
      </p:sp>
      <p:sp>
        <p:nvSpPr>
          <p:cNvPr id="8" name="Text 6"/>
          <p:cNvSpPr/>
          <p:nvPr/>
        </p:nvSpPr>
        <p:spPr>
          <a:xfrm>
            <a:off x="8092440" y="777240"/>
            <a:ext cx="3931920" cy="320040"/>
          </a:xfrm>
          <a:prstGeom prst="rect">
            <a:avLst/>
          </a:prstGeom>
          <a:solidFill>
            <a:srgbClr val="FF4655"/>
          </a:solidFill>
          <a:ln/>
        </p:spPr>
        <p:txBody>
          <a:bodyPr wrap="square" rtlCol="0" anchor="ctr"/>
          <a:lstStyle/>
          <a:p>
            <a:pPr algn="ctr" indent="0" marL="0">
              <a:buNone/>
            </a:pPr>
            <a:r>
              <a:rPr lang="en-US" sz="1200" b="1" dirty="0">
                <a:solidFill>
                  <a:srgbClr val="FFFFFF"/>
                </a:solidFill>
              </a:rPr>
              <a:t>Rationale</a:t>
            </a:r>
            <a:endParaRPr lang="en-US" sz="1200" dirty="0"/>
          </a:p>
        </p:txBody>
      </p:sp>
      <p:sp>
        <p:nvSpPr>
          <p:cNvPr id="9" name="Shape 7"/>
          <p:cNvSpPr/>
          <p:nvPr/>
        </p:nvSpPr>
        <p:spPr>
          <a:xfrm>
            <a:off x="320040" y="1143000"/>
            <a:ext cx="11704320" cy="566928"/>
          </a:xfrm>
          <a:prstGeom prst="rect">
            <a:avLst/>
          </a:prstGeom>
          <a:solidFill>
            <a:srgbClr val="1F2937"/>
          </a:solidFill>
          <a:ln/>
        </p:spPr>
      </p:sp>
      <p:sp>
        <p:nvSpPr>
          <p:cNvPr id="10" name="Text 8"/>
          <p:cNvSpPr/>
          <p:nvPr/>
        </p:nvSpPr>
        <p:spPr>
          <a:xfrm>
            <a:off x="320040" y="1188720"/>
            <a:ext cx="1645920" cy="475488"/>
          </a:xfrm>
          <a:prstGeom prst="rect">
            <a:avLst/>
          </a:prstGeom>
          <a:noFill/>
          <a:ln/>
        </p:spPr>
        <p:txBody>
          <a:bodyPr wrap="square" rtlCol="0" anchor="ctr"/>
          <a:lstStyle/>
          <a:p>
            <a:pPr algn="ctr" indent="0" marL="0">
              <a:buNone/>
            </a:pPr>
            <a:r>
              <a:rPr lang="en-US" sz="1000" b="1" dirty="0">
                <a:solidFill>
                  <a:srgbClr val="00FF88"/>
                </a:solidFill>
              </a:rPr>
              <a:t>SCALE +50%</a:t>
            </a:r>
            <a:endParaRPr lang="en-US" sz="1000" dirty="0"/>
          </a:p>
        </p:txBody>
      </p:sp>
      <p:sp>
        <p:nvSpPr>
          <p:cNvPr id="11" name="Text 9"/>
          <p:cNvSpPr/>
          <p:nvPr/>
        </p:nvSpPr>
        <p:spPr>
          <a:xfrm>
            <a:off x="2057400" y="1188720"/>
            <a:ext cx="1600200" cy="475488"/>
          </a:xfrm>
          <a:prstGeom prst="rect">
            <a:avLst/>
          </a:prstGeom>
          <a:noFill/>
          <a:ln/>
        </p:spPr>
        <p:txBody>
          <a:bodyPr wrap="square" rtlCol="0" anchor="ctr"/>
          <a:lstStyle/>
          <a:p>
            <a:pPr algn="ctr" indent="0" marL="0">
              <a:buNone/>
            </a:pPr>
            <a:r>
              <a:rPr lang="en-US" sz="1200" dirty="0">
                <a:solidFill>
                  <a:srgbClr val="FFFFFF"/>
                </a:solidFill>
              </a:rPr>
              <a:t>tarik</a:t>
            </a:r>
            <a:endParaRPr lang="en-US" sz="1200" dirty="0"/>
          </a:p>
        </p:txBody>
      </p:sp>
      <p:sp>
        <p:nvSpPr>
          <p:cNvPr id="12" name="Text 10"/>
          <p:cNvSpPr/>
          <p:nvPr/>
        </p:nvSpPr>
        <p:spPr>
          <a:xfrm>
            <a:off x="3749040" y="1188720"/>
            <a:ext cx="1691640" cy="475488"/>
          </a:xfrm>
          <a:prstGeom prst="rect">
            <a:avLst/>
          </a:prstGeom>
          <a:noFill/>
          <a:ln/>
        </p:spPr>
        <p:txBody>
          <a:bodyPr wrap="square" rtlCol="0" anchor="ctr"/>
          <a:lstStyle/>
          <a:p>
            <a:pPr algn="ctr" indent="0" marL="0">
              <a:buNone/>
            </a:pPr>
            <a:r>
              <a:rPr lang="en-US" sz="1200" dirty="0">
                <a:solidFill>
                  <a:srgbClr val="FFE033"/>
                </a:solidFill>
              </a:rPr>
              <a:t>$30K/mo</a:t>
            </a:r>
            <a:endParaRPr lang="en-US" sz="1200" dirty="0"/>
          </a:p>
        </p:txBody>
      </p:sp>
      <p:sp>
        <p:nvSpPr>
          <p:cNvPr id="13" name="Text 11"/>
          <p:cNvSpPr/>
          <p:nvPr/>
        </p:nvSpPr>
        <p:spPr>
          <a:xfrm>
            <a:off x="5532120" y="1188720"/>
            <a:ext cx="2468880" cy="475488"/>
          </a:xfrm>
          <a:prstGeom prst="rect">
            <a:avLst/>
          </a:prstGeom>
          <a:noFill/>
          <a:ln/>
        </p:spPr>
        <p:txBody>
          <a:bodyPr wrap="square" rtlCol="0" anchor="ctr"/>
          <a:lstStyle/>
          <a:p>
            <a:pPr algn="ctr" indent="0" marL="0">
              <a:buNone/>
            </a:pPr>
            <a:r>
              <a:rPr lang="en-US" sz="1400" dirty="0">
                <a:solidFill>
                  <a:srgbClr val="FFE033"/>
                </a:solidFill>
              </a:rPr>
              <a:t>★★★★★</a:t>
            </a:r>
            <a:endParaRPr lang="en-US" sz="1400" dirty="0"/>
          </a:p>
        </p:txBody>
      </p:sp>
      <p:sp>
        <p:nvSpPr>
          <p:cNvPr id="14" name="Text 12"/>
          <p:cNvSpPr/>
          <p:nvPr/>
        </p:nvSpPr>
        <p:spPr>
          <a:xfrm>
            <a:off x="8092440" y="1188720"/>
            <a:ext cx="3931920" cy="475488"/>
          </a:xfrm>
          <a:prstGeom prst="rect">
            <a:avLst/>
          </a:prstGeom>
          <a:noFill/>
          <a:ln/>
        </p:spPr>
        <p:txBody>
          <a:bodyPr wrap="square" rtlCol="0" anchor="ctr"/>
          <a:lstStyle/>
          <a:p>
            <a:pPr indent="0" marL="0">
              <a:buNone/>
            </a:pPr>
            <a:r>
              <a:rPr lang="en-US" sz="1000" dirty="0">
                <a:solidFill>
                  <a:srgbClr val="D1D5DB"/>
                </a:solidFill>
              </a:rPr>
              <a:t>Only creator with +ΔER during 44% category decline. Audience loyalty proven.</a:t>
            </a:r>
            <a:endParaRPr lang="en-US" sz="1000" dirty="0"/>
          </a:p>
        </p:txBody>
      </p:sp>
      <p:sp>
        <p:nvSpPr>
          <p:cNvPr id="15" name="Shape 13"/>
          <p:cNvSpPr/>
          <p:nvPr/>
        </p:nvSpPr>
        <p:spPr>
          <a:xfrm>
            <a:off x="320040" y="1755648"/>
            <a:ext cx="11704320" cy="566928"/>
          </a:xfrm>
          <a:prstGeom prst="rect">
            <a:avLst/>
          </a:prstGeom>
          <a:solidFill>
            <a:srgbClr val="374151"/>
          </a:solidFill>
          <a:ln/>
        </p:spPr>
      </p:sp>
      <p:sp>
        <p:nvSpPr>
          <p:cNvPr id="16" name="Text 14"/>
          <p:cNvSpPr/>
          <p:nvPr/>
        </p:nvSpPr>
        <p:spPr>
          <a:xfrm>
            <a:off x="320040" y="1801368"/>
            <a:ext cx="1645920" cy="475488"/>
          </a:xfrm>
          <a:prstGeom prst="rect">
            <a:avLst/>
          </a:prstGeom>
          <a:noFill/>
          <a:ln/>
        </p:spPr>
        <p:txBody>
          <a:bodyPr wrap="square" rtlCol="0" anchor="ctr"/>
          <a:lstStyle/>
          <a:p>
            <a:pPr algn="ctr" indent="0" marL="0">
              <a:buNone/>
            </a:pPr>
            <a:r>
              <a:rPr lang="en-US" sz="1000" b="1" dirty="0">
                <a:solidFill>
                  <a:srgbClr val="00D4FF"/>
                </a:solidFill>
              </a:rPr>
              <a:t>RENEW FLAT</a:t>
            </a:r>
            <a:endParaRPr lang="en-US" sz="1000" dirty="0"/>
          </a:p>
        </p:txBody>
      </p:sp>
      <p:sp>
        <p:nvSpPr>
          <p:cNvPr id="17" name="Text 15"/>
          <p:cNvSpPr/>
          <p:nvPr/>
        </p:nvSpPr>
        <p:spPr>
          <a:xfrm>
            <a:off x="2057400" y="1801368"/>
            <a:ext cx="1600200" cy="475488"/>
          </a:xfrm>
          <a:prstGeom prst="rect">
            <a:avLst/>
          </a:prstGeom>
          <a:noFill/>
          <a:ln/>
        </p:spPr>
        <p:txBody>
          <a:bodyPr wrap="square" rtlCol="0" anchor="ctr"/>
          <a:lstStyle/>
          <a:p>
            <a:pPr algn="ctr" indent="0" marL="0">
              <a:buNone/>
            </a:pPr>
            <a:r>
              <a:rPr lang="en-US" sz="1200" dirty="0">
                <a:solidFill>
                  <a:srgbClr val="FFFFFF"/>
                </a:solidFill>
              </a:rPr>
              <a:t>TenZ</a:t>
            </a:r>
            <a:endParaRPr lang="en-US" sz="1200" dirty="0"/>
          </a:p>
        </p:txBody>
      </p:sp>
      <p:sp>
        <p:nvSpPr>
          <p:cNvPr id="18" name="Text 16"/>
          <p:cNvSpPr/>
          <p:nvPr/>
        </p:nvSpPr>
        <p:spPr>
          <a:xfrm>
            <a:off x="3749040" y="1801368"/>
            <a:ext cx="1691640" cy="475488"/>
          </a:xfrm>
          <a:prstGeom prst="rect">
            <a:avLst/>
          </a:prstGeom>
          <a:noFill/>
          <a:ln/>
        </p:spPr>
        <p:txBody>
          <a:bodyPr wrap="square" rtlCol="0" anchor="ctr"/>
          <a:lstStyle/>
          <a:p>
            <a:pPr algn="ctr" indent="0" marL="0">
              <a:buNone/>
            </a:pPr>
            <a:r>
              <a:rPr lang="en-US" sz="1200" dirty="0">
                <a:solidFill>
                  <a:srgbClr val="FFE033"/>
                </a:solidFill>
              </a:rPr>
              <a:t>$25K/mo</a:t>
            </a:r>
            <a:endParaRPr lang="en-US" sz="1200" dirty="0"/>
          </a:p>
        </p:txBody>
      </p:sp>
      <p:sp>
        <p:nvSpPr>
          <p:cNvPr id="19" name="Text 17"/>
          <p:cNvSpPr/>
          <p:nvPr/>
        </p:nvSpPr>
        <p:spPr>
          <a:xfrm>
            <a:off x="5532120" y="1801368"/>
            <a:ext cx="2468880" cy="475488"/>
          </a:xfrm>
          <a:prstGeom prst="rect">
            <a:avLst/>
          </a:prstGeom>
          <a:noFill/>
          <a:ln/>
        </p:spPr>
        <p:txBody>
          <a:bodyPr wrap="square" rtlCol="0" anchor="ctr"/>
          <a:lstStyle/>
          <a:p>
            <a:pPr algn="ctr" indent="0" marL="0">
              <a:buNone/>
            </a:pPr>
            <a:r>
              <a:rPr lang="en-US" sz="1400" dirty="0">
                <a:solidFill>
                  <a:srgbClr val="FFE033"/>
                </a:solidFill>
              </a:rPr>
              <a:t>★★★★☆</a:t>
            </a:r>
            <a:endParaRPr lang="en-US" sz="1400" dirty="0"/>
          </a:p>
        </p:txBody>
      </p:sp>
      <p:sp>
        <p:nvSpPr>
          <p:cNvPr id="20" name="Text 18"/>
          <p:cNvSpPr/>
          <p:nvPr/>
        </p:nvSpPr>
        <p:spPr>
          <a:xfrm>
            <a:off x="8092440" y="1801368"/>
            <a:ext cx="3931920" cy="475488"/>
          </a:xfrm>
          <a:prstGeom prst="rect">
            <a:avLst/>
          </a:prstGeom>
          <a:noFill/>
          <a:ln/>
        </p:spPr>
        <p:txBody>
          <a:bodyPr wrap="square" rtlCol="0" anchor="ctr"/>
          <a:lstStyle/>
          <a:p>
            <a:pPr indent="0" marL="0">
              <a:buNone/>
            </a:pPr>
            <a:r>
              <a:rPr lang="en-US" sz="1000" dirty="0">
                <a:solidFill>
                  <a:srgbClr val="D1D5DB"/>
                </a:solidFill>
              </a:rPr>
              <a:t>Audience loyalty + viral ceiling. Normalize spend vs. Q3 outlier before evaluating.</a:t>
            </a:r>
            <a:endParaRPr lang="en-US" sz="1000" dirty="0"/>
          </a:p>
        </p:txBody>
      </p:sp>
      <p:sp>
        <p:nvSpPr>
          <p:cNvPr id="21" name="Shape 19"/>
          <p:cNvSpPr/>
          <p:nvPr/>
        </p:nvSpPr>
        <p:spPr>
          <a:xfrm>
            <a:off x="320040" y="2368296"/>
            <a:ext cx="11704320" cy="566928"/>
          </a:xfrm>
          <a:prstGeom prst="rect">
            <a:avLst/>
          </a:prstGeom>
          <a:solidFill>
            <a:srgbClr val="1F2937"/>
          </a:solidFill>
          <a:ln/>
        </p:spPr>
      </p:sp>
      <p:sp>
        <p:nvSpPr>
          <p:cNvPr id="22" name="Text 20"/>
          <p:cNvSpPr/>
          <p:nvPr/>
        </p:nvSpPr>
        <p:spPr>
          <a:xfrm>
            <a:off x="320040" y="2414016"/>
            <a:ext cx="1645920" cy="475488"/>
          </a:xfrm>
          <a:prstGeom prst="rect">
            <a:avLst/>
          </a:prstGeom>
          <a:noFill/>
          <a:ln/>
        </p:spPr>
        <p:txBody>
          <a:bodyPr wrap="square" rtlCol="0" anchor="ctr"/>
          <a:lstStyle/>
          <a:p>
            <a:pPr algn="ctr" indent="0" marL="0">
              <a:buNone/>
            </a:pPr>
            <a:r>
              <a:rPr lang="en-US" sz="1000" b="1" dirty="0">
                <a:solidFill>
                  <a:srgbClr val="00D4FF"/>
                </a:solidFill>
              </a:rPr>
              <a:t>RENEW FLAT</a:t>
            </a:r>
            <a:endParaRPr lang="en-US" sz="1000" dirty="0"/>
          </a:p>
        </p:txBody>
      </p:sp>
      <p:sp>
        <p:nvSpPr>
          <p:cNvPr id="23" name="Text 21"/>
          <p:cNvSpPr/>
          <p:nvPr/>
        </p:nvSpPr>
        <p:spPr>
          <a:xfrm>
            <a:off x="2057400" y="2414016"/>
            <a:ext cx="1600200" cy="475488"/>
          </a:xfrm>
          <a:prstGeom prst="rect">
            <a:avLst/>
          </a:prstGeom>
          <a:noFill/>
          <a:ln/>
        </p:spPr>
        <p:txBody>
          <a:bodyPr wrap="square" rtlCol="0" anchor="ctr"/>
          <a:lstStyle/>
          <a:p>
            <a:pPr algn="ctr" indent="0" marL="0">
              <a:buNone/>
            </a:pPr>
            <a:r>
              <a:rPr lang="en-US" sz="1200" dirty="0">
                <a:solidFill>
                  <a:srgbClr val="FFFFFF"/>
                </a:solidFill>
              </a:rPr>
              <a:t>Kyedae</a:t>
            </a:r>
            <a:endParaRPr lang="en-US" sz="1200" dirty="0"/>
          </a:p>
        </p:txBody>
      </p:sp>
      <p:sp>
        <p:nvSpPr>
          <p:cNvPr id="24" name="Text 22"/>
          <p:cNvSpPr/>
          <p:nvPr/>
        </p:nvSpPr>
        <p:spPr>
          <a:xfrm>
            <a:off x="3749040" y="2414016"/>
            <a:ext cx="1691640" cy="475488"/>
          </a:xfrm>
          <a:prstGeom prst="rect">
            <a:avLst/>
          </a:prstGeom>
          <a:noFill/>
          <a:ln/>
        </p:spPr>
        <p:txBody>
          <a:bodyPr wrap="square" rtlCol="0" anchor="ctr"/>
          <a:lstStyle/>
          <a:p>
            <a:pPr algn="ctr" indent="0" marL="0">
              <a:buNone/>
            </a:pPr>
            <a:r>
              <a:rPr lang="en-US" sz="1200" dirty="0">
                <a:solidFill>
                  <a:srgbClr val="FFE033"/>
                </a:solidFill>
              </a:rPr>
              <a:t>$22K/mo</a:t>
            </a:r>
            <a:endParaRPr lang="en-US" sz="1200" dirty="0"/>
          </a:p>
        </p:txBody>
      </p:sp>
      <p:sp>
        <p:nvSpPr>
          <p:cNvPr id="25" name="Text 23"/>
          <p:cNvSpPr/>
          <p:nvPr/>
        </p:nvSpPr>
        <p:spPr>
          <a:xfrm>
            <a:off x="5532120" y="2414016"/>
            <a:ext cx="2468880" cy="475488"/>
          </a:xfrm>
          <a:prstGeom prst="rect">
            <a:avLst/>
          </a:prstGeom>
          <a:noFill/>
          <a:ln/>
        </p:spPr>
        <p:txBody>
          <a:bodyPr wrap="square" rtlCol="0" anchor="ctr"/>
          <a:lstStyle/>
          <a:p>
            <a:pPr algn="ctr" indent="0" marL="0">
              <a:buNone/>
            </a:pPr>
            <a:r>
              <a:rPr lang="en-US" sz="1400" dirty="0">
                <a:solidFill>
                  <a:srgbClr val="FFE033"/>
                </a:solidFill>
              </a:rPr>
              <a:t>★★★☆☆</a:t>
            </a:r>
            <a:endParaRPr lang="en-US" sz="1400" dirty="0"/>
          </a:p>
        </p:txBody>
      </p:sp>
      <p:sp>
        <p:nvSpPr>
          <p:cNvPr id="26" name="Text 24"/>
          <p:cNvSpPr/>
          <p:nvPr/>
        </p:nvSpPr>
        <p:spPr>
          <a:xfrm>
            <a:off x="8092440" y="2414016"/>
            <a:ext cx="3931920" cy="475488"/>
          </a:xfrm>
          <a:prstGeom prst="rect">
            <a:avLst/>
          </a:prstGeom>
          <a:noFill/>
          <a:ln/>
        </p:spPr>
        <p:txBody>
          <a:bodyPr wrap="square" rtlCol="0" anchor="ctr"/>
          <a:lstStyle/>
          <a:p>
            <a:pPr indent="0" marL="0">
              <a:buNone/>
            </a:pPr>
            <a:r>
              <a:rPr lang="en-US" sz="1000" dirty="0">
                <a:solidFill>
                  <a:srgbClr val="D1D5DB"/>
                </a:solidFill>
              </a:rPr>
              <a:t>Above benchmark in Q4. One more cycle of data needed before scaling.</a:t>
            </a:r>
            <a:endParaRPr lang="en-US" sz="1000" dirty="0"/>
          </a:p>
        </p:txBody>
      </p:sp>
      <p:sp>
        <p:nvSpPr>
          <p:cNvPr id="27" name="Shape 25"/>
          <p:cNvSpPr/>
          <p:nvPr/>
        </p:nvSpPr>
        <p:spPr>
          <a:xfrm>
            <a:off x="320040" y="2980944"/>
            <a:ext cx="11704320" cy="566928"/>
          </a:xfrm>
          <a:prstGeom prst="rect">
            <a:avLst/>
          </a:prstGeom>
          <a:solidFill>
            <a:srgbClr val="374151"/>
          </a:solidFill>
          <a:ln/>
        </p:spPr>
      </p:sp>
      <p:sp>
        <p:nvSpPr>
          <p:cNvPr id="28" name="Text 26"/>
          <p:cNvSpPr/>
          <p:nvPr/>
        </p:nvSpPr>
        <p:spPr>
          <a:xfrm>
            <a:off x="320040" y="3026664"/>
            <a:ext cx="1645920" cy="475488"/>
          </a:xfrm>
          <a:prstGeom prst="rect">
            <a:avLst/>
          </a:prstGeom>
          <a:noFill/>
          <a:ln/>
        </p:spPr>
        <p:txBody>
          <a:bodyPr wrap="square" rtlCol="0" anchor="ctr"/>
          <a:lstStyle/>
          <a:p>
            <a:pPr algn="ctr" indent="0" marL="0">
              <a:buNone/>
            </a:pPr>
            <a:r>
              <a:rPr lang="en-US" sz="1000" b="1" dirty="0">
                <a:solidFill>
                  <a:srgbClr val="FFE033"/>
                </a:solidFill>
              </a:rPr>
              <a:t>MONITOR</a:t>
            </a:r>
            <a:endParaRPr lang="en-US" sz="1000" dirty="0"/>
          </a:p>
        </p:txBody>
      </p:sp>
      <p:sp>
        <p:nvSpPr>
          <p:cNvPr id="29" name="Text 27"/>
          <p:cNvSpPr/>
          <p:nvPr/>
        </p:nvSpPr>
        <p:spPr>
          <a:xfrm>
            <a:off x="2057400" y="3026664"/>
            <a:ext cx="1600200" cy="475488"/>
          </a:xfrm>
          <a:prstGeom prst="rect">
            <a:avLst/>
          </a:prstGeom>
          <a:noFill/>
          <a:ln/>
        </p:spPr>
        <p:txBody>
          <a:bodyPr wrap="square" rtlCol="0" anchor="ctr"/>
          <a:lstStyle/>
          <a:p>
            <a:pPr algn="ctr" indent="0" marL="0">
              <a:buNone/>
            </a:pPr>
            <a:r>
              <a:rPr lang="en-US" sz="1200" dirty="0">
                <a:solidFill>
                  <a:srgbClr val="FFFFFF"/>
                </a:solidFill>
              </a:rPr>
              <a:t>Sinatraa</a:t>
            </a:r>
            <a:endParaRPr lang="en-US" sz="1200" dirty="0"/>
          </a:p>
        </p:txBody>
      </p:sp>
      <p:sp>
        <p:nvSpPr>
          <p:cNvPr id="30" name="Text 28"/>
          <p:cNvSpPr/>
          <p:nvPr/>
        </p:nvSpPr>
        <p:spPr>
          <a:xfrm>
            <a:off x="3749040" y="3026664"/>
            <a:ext cx="1691640" cy="475488"/>
          </a:xfrm>
          <a:prstGeom prst="rect">
            <a:avLst/>
          </a:prstGeom>
          <a:noFill/>
          <a:ln/>
        </p:spPr>
        <p:txBody>
          <a:bodyPr wrap="square" rtlCol="0" anchor="ctr"/>
          <a:lstStyle/>
          <a:p>
            <a:pPr algn="ctr" indent="0" marL="0">
              <a:buNone/>
            </a:pPr>
            <a:r>
              <a:rPr lang="en-US" sz="1200" dirty="0">
                <a:solidFill>
                  <a:srgbClr val="FFE033"/>
                </a:solidFill>
              </a:rPr>
              <a:t>$8K/mo</a:t>
            </a:r>
            <a:endParaRPr lang="en-US" sz="1200" dirty="0"/>
          </a:p>
        </p:txBody>
      </p:sp>
      <p:sp>
        <p:nvSpPr>
          <p:cNvPr id="31" name="Text 29"/>
          <p:cNvSpPr/>
          <p:nvPr/>
        </p:nvSpPr>
        <p:spPr>
          <a:xfrm>
            <a:off x="5532120" y="3026664"/>
            <a:ext cx="2468880" cy="475488"/>
          </a:xfrm>
          <a:prstGeom prst="rect">
            <a:avLst/>
          </a:prstGeom>
          <a:noFill/>
          <a:ln/>
        </p:spPr>
        <p:txBody>
          <a:bodyPr wrap="square" rtlCol="0" anchor="ctr"/>
          <a:lstStyle/>
          <a:p>
            <a:pPr algn="ctr" indent="0" marL="0">
              <a:buNone/>
            </a:pPr>
            <a:r>
              <a:rPr lang="en-US" sz="1400" dirty="0">
                <a:solidFill>
                  <a:srgbClr val="FFE033"/>
                </a:solidFill>
              </a:rPr>
              <a:t>★★☆☆☆</a:t>
            </a:r>
            <a:endParaRPr lang="en-US" sz="1400" dirty="0"/>
          </a:p>
        </p:txBody>
      </p:sp>
      <p:sp>
        <p:nvSpPr>
          <p:cNvPr id="32" name="Text 30"/>
          <p:cNvSpPr/>
          <p:nvPr/>
        </p:nvSpPr>
        <p:spPr>
          <a:xfrm>
            <a:off x="8092440" y="3026664"/>
            <a:ext cx="3931920" cy="475488"/>
          </a:xfrm>
          <a:prstGeom prst="rect">
            <a:avLst/>
          </a:prstGeom>
          <a:noFill/>
          <a:ln/>
        </p:spPr>
        <p:txBody>
          <a:bodyPr wrap="square" rtlCol="0" anchor="ctr"/>
          <a:lstStyle/>
          <a:p>
            <a:pPr indent="0" marL="0">
              <a:buNone/>
            </a:pPr>
            <a:r>
              <a:rPr lang="en-US" sz="1000" dirty="0">
                <a:solidFill>
                  <a:srgbClr val="D1D5DB"/>
                </a:solidFill>
              </a:rPr>
              <a:t>Declining ER — steepest drop after aceu. Watch Q1 before any budget decision.</a:t>
            </a:r>
            <a:endParaRPr lang="en-US" sz="1000" dirty="0"/>
          </a:p>
        </p:txBody>
      </p:sp>
      <p:sp>
        <p:nvSpPr>
          <p:cNvPr id="33" name="Shape 31"/>
          <p:cNvSpPr/>
          <p:nvPr/>
        </p:nvSpPr>
        <p:spPr>
          <a:xfrm>
            <a:off x="320040" y="3593592"/>
            <a:ext cx="11704320" cy="566928"/>
          </a:xfrm>
          <a:prstGeom prst="rect">
            <a:avLst/>
          </a:prstGeom>
          <a:solidFill>
            <a:srgbClr val="1F2937"/>
          </a:solidFill>
          <a:ln/>
        </p:spPr>
      </p:sp>
      <p:sp>
        <p:nvSpPr>
          <p:cNvPr id="34" name="Text 32"/>
          <p:cNvSpPr/>
          <p:nvPr/>
        </p:nvSpPr>
        <p:spPr>
          <a:xfrm>
            <a:off x="320040" y="3639312"/>
            <a:ext cx="1645920" cy="475488"/>
          </a:xfrm>
          <a:prstGeom prst="rect">
            <a:avLst/>
          </a:prstGeom>
          <a:noFill/>
          <a:ln/>
        </p:spPr>
        <p:txBody>
          <a:bodyPr wrap="square" rtlCol="0" anchor="ctr"/>
          <a:lstStyle/>
          <a:p>
            <a:pPr algn="ctr" indent="0" marL="0">
              <a:buNone/>
            </a:pPr>
            <a:r>
              <a:rPr lang="en-US" sz="1000" b="1" dirty="0">
                <a:solidFill>
                  <a:srgbClr val="6B7280"/>
                </a:solidFill>
              </a:rPr>
              <a:t>ROTATE OUT</a:t>
            </a:r>
            <a:endParaRPr lang="en-US" sz="1000" dirty="0"/>
          </a:p>
        </p:txBody>
      </p:sp>
      <p:sp>
        <p:nvSpPr>
          <p:cNvPr id="35" name="Text 33"/>
          <p:cNvSpPr/>
          <p:nvPr/>
        </p:nvSpPr>
        <p:spPr>
          <a:xfrm>
            <a:off x="2057400" y="3639312"/>
            <a:ext cx="1600200" cy="475488"/>
          </a:xfrm>
          <a:prstGeom prst="rect">
            <a:avLst/>
          </a:prstGeom>
          <a:noFill/>
          <a:ln/>
        </p:spPr>
        <p:txBody>
          <a:bodyPr wrap="square" rtlCol="0" anchor="ctr"/>
          <a:lstStyle/>
          <a:p>
            <a:pPr algn="ctr" indent="0" marL="0">
              <a:buNone/>
            </a:pPr>
            <a:r>
              <a:rPr lang="en-US" sz="1200" dirty="0">
                <a:solidFill>
                  <a:srgbClr val="FFFFFF"/>
                </a:solidFill>
              </a:rPr>
              <a:t>Protatomonster</a:t>
            </a:r>
            <a:endParaRPr lang="en-US" sz="1200" dirty="0"/>
          </a:p>
        </p:txBody>
      </p:sp>
      <p:sp>
        <p:nvSpPr>
          <p:cNvPr id="36" name="Text 34"/>
          <p:cNvSpPr/>
          <p:nvPr/>
        </p:nvSpPr>
        <p:spPr>
          <a:xfrm>
            <a:off x="3749040" y="3639312"/>
            <a:ext cx="1691640" cy="475488"/>
          </a:xfrm>
          <a:prstGeom prst="rect">
            <a:avLst/>
          </a:prstGeom>
          <a:noFill/>
          <a:ln/>
        </p:spPr>
        <p:txBody>
          <a:bodyPr wrap="square" rtlCol="0" anchor="ctr"/>
          <a:lstStyle/>
          <a:p>
            <a:pPr algn="ctr" indent="0" marL="0">
              <a:buNone/>
            </a:pPr>
            <a:r>
              <a:rPr lang="en-US" sz="1200" dirty="0">
                <a:solidFill>
                  <a:srgbClr val="FFE033"/>
                </a:solidFill>
              </a:rPr>
              <a:t>$0</a:t>
            </a:r>
            <a:endParaRPr lang="en-US" sz="1200" dirty="0"/>
          </a:p>
        </p:txBody>
      </p:sp>
      <p:sp>
        <p:nvSpPr>
          <p:cNvPr id="37" name="Text 35"/>
          <p:cNvSpPr/>
          <p:nvPr/>
        </p:nvSpPr>
        <p:spPr>
          <a:xfrm>
            <a:off x="5532120" y="3639312"/>
            <a:ext cx="2468880" cy="475488"/>
          </a:xfrm>
          <a:prstGeom prst="rect">
            <a:avLst/>
          </a:prstGeom>
          <a:noFill/>
          <a:ln/>
        </p:spPr>
        <p:txBody>
          <a:bodyPr wrap="square" rtlCol="0" anchor="ctr"/>
          <a:lstStyle/>
          <a:p>
            <a:pPr algn="ctr" indent="0" marL="0">
              <a:buNone/>
            </a:pPr>
            <a:r>
              <a:rPr lang="en-US" sz="1400" dirty="0">
                <a:solidFill>
                  <a:srgbClr val="FFE033"/>
                </a:solidFill>
              </a:rPr>
              <a:t>★★☆☆☆</a:t>
            </a:r>
            <a:endParaRPr lang="en-US" sz="1400" dirty="0"/>
          </a:p>
        </p:txBody>
      </p:sp>
      <p:sp>
        <p:nvSpPr>
          <p:cNvPr id="38" name="Text 36"/>
          <p:cNvSpPr/>
          <p:nvPr/>
        </p:nvSpPr>
        <p:spPr>
          <a:xfrm>
            <a:off x="8092440" y="3639312"/>
            <a:ext cx="3931920" cy="475488"/>
          </a:xfrm>
          <a:prstGeom prst="rect">
            <a:avLst/>
          </a:prstGeom>
          <a:noFill/>
          <a:ln/>
        </p:spPr>
        <p:txBody>
          <a:bodyPr wrap="square" rtlCol="0" anchor="ctr"/>
          <a:lstStyle/>
          <a:p>
            <a:pPr indent="0" marL="0">
              <a:buNone/>
            </a:pPr>
            <a:r>
              <a:rPr lang="en-US" sz="1000" dirty="0">
                <a:solidFill>
                  <a:srgbClr val="D1D5DB"/>
                </a:solidFill>
              </a:rPr>
              <a:t>Flat engagement vs. cost. CPE in Review tier for 3 consecutive months. No upside signal.</a:t>
            </a:r>
            <a:endParaRPr lang="en-US" sz="1000" dirty="0"/>
          </a:p>
        </p:txBody>
      </p:sp>
      <p:sp>
        <p:nvSpPr>
          <p:cNvPr id="39" name="Shape 37"/>
          <p:cNvSpPr/>
          <p:nvPr/>
        </p:nvSpPr>
        <p:spPr>
          <a:xfrm>
            <a:off x="320040" y="4206240"/>
            <a:ext cx="11704320" cy="566928"/>
          </a:xfrm>
          <a:prstGeom prst="rect">
            <a:avLst/>
          </a:prstGeom>
          <a:solidFill>
            <a:srgbClr val="374151"/>
          </a:solidFill>
          <a:ln/>
        </p:spPr>
      </p:sp>
      <p:sp>
        <p:nvSpPr>
          <p:cNvPr id="40" name="Text 38"/>
          <p:cNvSpPr/>
          <p:nvPr/>
        </p:nvSpPr>
        <p:spPr>
          <a:xfrm>
            <a:off x="320040" y="4251960"/>
            <a:ext cx="1645920" cy="475488"/>
          </a:xfrm>
          <a:prstGeom prst="rect">
            <a:avLst/>
          </a:prstGeom>
          <a:noFill/>
          <a:ln/>
        </p:spPr>
        <p:txBody>
          <a:bodyPr wrap="square" rtlCol="0" anchor="ctr"/>
          <a:lstStyle/>
          <a:p>
            <a:pPr algn="ctr" indent="0" marL="0">
              <a:buNone/>
            </a:pPr>
            <a:r>
              <a:rPr lang="en-US" sz="1000" b="1" dirty="0">
                <a:solidFill>
                  <a:srgbClr val="FF4655"/>
                </a:solidFill>
              </a:rPr>
              <a:t>RENEGOTIATE -30%</a:t>
            </a:r>
            <a:endParaRPr lang="en-US" sz="1000" dirty="0"/>
          </a:p>
        </p:txBody>
      </p:sp>
      <p:sp>
        <p:nvSpPr>
          <p:cNvPr id="41" name="Text 39"/>
          <p:cNvSpPr/>
          <p:nvPr/>
        </p:nvSpPr>
        <p:spPr>
          <a:xfrm>
            <a:off x="2057400" y="4251960"/>
            <a:ext cx="1600200" cy="475488"/>
          </a:xfrm>
          <a:prstGeom prst="rect">
            <a:avLst/>
          </a:prstGeom>
          <a:noFill/>
          <a:ln/>
        </p:spPr>
        <p:txBody>
          <a:bodyPr wrap="square" rtlCol="0" anchor="ctr"/>
          <a:lstStyle/>
          <a:p>
            <a:pPr algn="ctr" indent="0" marL="0">
              <a:buNone/>
            </a:pPr>
            <a:r>
              <a:rPr lang="en-US" sz="1200" dirty="0">
                <a:solidFill>
                  <a:srgbClr val="FFFFFF"/>
                </a:solidFill>
              </a:rPr>
              <a:t>aceu</a:t>
            </a:r>
            <a:endParaRPr lang="en-US" sz="1200" dirty="0"/>
          </a:p>
        </p:txBody>
      </p:sp>
      <p:sp>
        <p:nvSpPr>
          <p:cNvPr id="42" name="Text 40"/>
          <p:cNvSpPr/>
          <p:nvPr/>
        </p:nvSpPr>
        <p:spPr>
          <a:xfrm>
            <a:off x="3749040" y="4251960"/>
            <a:ext cx="1691640" cy="475488"/>
          </a:xfrm>
          <a:prstGeom prst="rect">
            <a:avLst/>
          </a:prstGeom>
          <a:noFill/>
          <a:ln/>
        </p:spPr>
        <p:txBody>
          <a:bodyPr wrap="square" rtlCol="0" anchor="ctr"/>
          <a:lstStyle/>
          <a:p>
            <a:pPr algn="ctr" indent="0" marL="0">
              <a:buNone/>
            </a:pPr>
            <a:r>
              <a:rPr lang="en-US" sz="1200" dirty="0">
                <a:solidFill>
                  <a:srgbClr val="FFE033"/>
                </a:solidFill>
              </a:rPr>
              <a:t>$20K↓</a:t>
            </a:r>
            <a:endParaRPr lang="en-US" sz="1200" dirty="0"/>
          </a:p>
        </p:txBody>
      </p:sp>
      <p:sp>
        <p:nvSpPr>
          <p:cNvPr id="43" name="Text 41"/>
          <p:cNvSpPr/>
          <p:nvPr/>
        </p:nvSpPr>
        <p:spPr>
          <a:xfrm>
            <a:off x="5532120" y="4251960"/>
            <a:ext cx="2468880" cy="475488"/>
          </a:xfrm>
          <a:prstGeom prst="rect">
            <a:avLst/>
          </a:prstGeom>
          <a:noFill/>
          <a:ln/>
        </p:spPr>
        <p:txBody>
          <a:bodyPr wrap="square" rtlCol="0" anchor="ctr"/>
          <a:lstStyle/>
          <a:p>
            <a:pPr algn="ctr" indent="0" marL="0">
              <a:buNone/>
            </a:pPr>
            <a:r>
              <a:rPr lang="en-US" sz="1400" dirty="0">
                <a:solidFill>
                  <a:srgbClr val="FFE033"/>
                </a:solidFill>
              </a:rPr>
              <a:t>★☆☆☆☆</a:t>
            </a:r>
            <a:endParaRPr lang="en-US" sz="1400" dirty="0"/>
          </a:p>
        </p:txBody>
      </p:sp>
      <p:sp>
        <p:nvSpPr>
          <p:cNvPr id="44" name="Text 42"/>
          <p:cNvSpPr/>
          <p:nvPr/>
        </p:nvSpPr>
        <p:spPr>
          <a:xfrm>
            <a:off x="8092440" y="4251960"/>
            <a:ext cx="3931920" cy="475488"/>
          </a:xfrm>
          <a:prstGeom prst="rect">
            <a:avLst/>
          </a:prstGeom>
          <a:noFill/>
          <a:ln/>
        </p:spPr>
        <p:txBody>
          <a:bodyPr wrap="square" rtlCol="0" anchor="ctr"/>
          <a:lstStyle/>
          <a:p>
            <a:pPr indent="0" marL="0">
              <a:buNone/>
            </a:pPr>
            <a:r>
              <a:rPr lang="en-US" sz="1000" dirty="0">
                <a:solidFill>
                  <a:srgbClr val="D1D5DB"/>
                </a:solidFill>
              </a:rPr>
              <a:t>CPE $3.46 = 14× benchmark. Structural fit issue. Renegotiate rate or replace creator.</a:t>
            </a:r>
            <a:endParaRPr lang="en-US" sz="1000" dirty="0"/>
          </a:p>
        </p:txBody>
      </p:sp>
      <p:sp>
        <p:nvSpPr>
          <p:cNvPr id="45" name="Shape 43"/>
          <p:cNvSpPr/>
          <p:nvPr/>
        </p:nvSpPr>
        <p:spPr>
          <a:xfrm>
            <a:off x="320040" y="4983480"/>
            <a:ext cx="11704320" cy="1737360"/>
          </a:xfrm>
          <a:prstGeom prst="rect">
            <a:avLst/>
          </a:prstGeom>
          <a:solidFill>
            <a:srgbClr val="1F2937"/>
          </a:solidFill>
          <a:ln w="12700">
            <a:solidFill>
              <a:srgbClr val="00D4FF"/>
            </a:solidFill>
            <a:prstDash val="solid"/>
          </a:ln>
        </p:spPr>
      </p:sp>
      <p:sp>
        <p:nvSpPr>
          <p:cNvPr id="46" name="Text 44"/>
          <p:cNvSpPr/>
          <p:nvPr/>
        </p:nvSpPr>
        <p:spPr>
          <a:xfrm>
            <a:off x="502920" y="5047488"/>
            <a:ext cx="10972800" cy="347472"/>
          </a:xfrm>
          <a:prstGeom prst="rect">
            <a:avLst/>
          </a:prstGeom>
          <a:noFill/>
          <a:ln/>
        </p:spPr>
        <p:txBody>
          <a:bodyPr wrap="square" rtlCol="0" anchor="ctr"/>
          <a:lstStyle/>
          <a:p>
            <a:pPr indent="0" marL="0">
              <a:buNone/>
            </a:pPr>
            <a:r>
              <a:rPr lang="en-US" sz="1300" b="1" dirty="0">
                <a:solidFill>
                  <a:srgbClr val="00D4FF"/>
                </a:solidFill>
              </a:rPr>
              <a:t>Next Steps to Strengthen This Analysis</a:t>
            </a:r>
            <a:endParaRPr lang="en-US" sz="1300" dirty="0"/>
          </a:p>
        </p:txBody>
      </p:sp>
      <p:sp>
        <p:nvSpPr>
          <p:cNvPr id="47" name="Text 45"/>
          <p:cNvSpPr/>
          <p:nvPr/>
        </p:nvSpPr>
        <p:spPr>
          <a:xfrm>
            <a:off x="502920" y="5440680"/>
            <a:ext cx="11430000" cy="274320"/>
          </a:xfrm>
          <a:prstGeom prst="rect">
            <a:avLst/>
          </a:prstGeom>
          <a:noFill/>
          <a:ln/>
        </p:spPr>
        <p:txBody>
          <a:bodyPr wrap="square" rtlCol="0" anchor="ctr"/>
          <a:lstStyle/>
          <a:p>
            <a:pPr indent="0" marL="0">
              <a:buNone/>
            </a:pPr>
            <a:r>
              <a:rPr lang="en-US" sz="1100" dirty="0">
                <a:solidFill>
                  <a:srgbClr val="FFFFFF"/>
                </a:solidFill>
              </a:rPr>
              <a:t>1.  Replace modelled spend with actual contract rates from finance — CPE figures will change materially</a:t>
            </a:r>
            <a:endParaRPr lang="en-US" sz="1100" dirty="0"/>
          </a:p>
        </p:txBody>
      </p:sp>
      <p:sp>
        <p:nvSpPr>
          <p:cNvPr id="48" name="Text 46"/>
          <p:cNvSpPr/>
          <p:nvPr/>
        </p:nvSpPr>
        <p:spPr>
          <a:xfrm>
            <a:off x="502920" y="5733288"/>
            <a:ext cx="11430000" cy="274320"/>
          </a:xfrm>
          <a:prstGeom prst="rect">
            <a:avLst/>
          </a:prstGeom>
          <a:noFill/>
          <a:ln/>
        </p:spPr>
        <p:txBody>
          <a:bodyPr wrap="square" rtlCol="0" anchor="ctr"/>
          <a:lstStyle/>
          <a:p>
            <a:pPr indent="0" marL="0">
              <a:buNone/>
            </a:pPr>
            <a:r>
              <a:rPr lang="en-US" sz="1100" dirty="0">
                <a:solidFill>
                  <a:srgbClr val="FFFFFF"/>
                </a:solidFill>
              </a:rPr>
              <a:t>2.  Add link-in-bio / discount code data to build true consideration layer (upper → lower funnel connection)</a:t>
            </a:r>
            <a:endParaRPr lang="en-US" sz="1100" dirty="0"/>
          </a:p>
        </p:txBody>
      </p:sp>
      <p:sp>
        <p:nvSpPr>
          <p:cNvPr id="49" name="Text 47"/>
          <p:cNvSpPr/>
          <p:nvPr/>
        </p:nvSpPr>
        <p:spPr>
          <a:xfrm>
            <a:off x="502920" y="6025896"/>
            <a:ext cx="11430000" cy="274320"/>
          </a:xfrm>
          <a:prstGeom prst="rect">
            <a:avLst/>
          </a:prstGeom>
          <a:noFill/>
          <a:ln/>
        </p:spPr>
        <p:txBody>
          <a:bodyPr wrap="square" rtlCol="0" anchor="ctr"/>
          <a:lstStyle/>
          <a:p>
            <a:pPr indent="0" marL="0">
              <a:buNone/>
            </a:pPr>
            <a:r>
              <a:rPr lang="en-US" sz="1100" dirty="0">
                <a:solidFill>
                  <a:srgbClr val="FFFFFF"/>
                </a:solidFill>
              </a:rPr>
              <a:t>3.  Run a geo-holdout or PSM study for true incrementality — Q3 vs Q4 ΔER is a proxy, not causal lift</a:t>
            </a:r>
            <a:endParaRPr lang="en-US" sz="1100" dirty="0"/>
          </a:p>
        </p:txBody>
      </p:sp>
      <p:sp>
        <p:nvSpPr>
          <p:cNvPr id="50" name="Text 48"/>
          <p:cNvSpPr/>
          <p:nvPr/>
        </p:nvSpPr>
        <p:spPr>
          <a:xfrm>
            <a:off x="502920" y="6318504"/>
            <a:ext cx="11430000" cy="274320"/>
          </a:xfrm>
          <a:prstGeom prst="rect">
            <a:avLst/>
          </a:prstGeom>
          <a:noFill/>
          <a:ln/>
        </p:spPr>
        <p:txBody>
          <a:bodyPr wrap="square" rtlCol="0" anchor="ctr"/>
          <a:lstStyle/>
          <a:p>
            <a:pPr indent="0" marL="0">
              <a:buNone/>
            </a:pPr>
            <a:r>
              <a:rPr lang="en-US" sz="1100" dirty="0">
                <a:solidFill>
                  <a:srgbClr val="FFFFFF"/>
                </a:solidFill>
              </a:rPr>
              <a:t>4.  Commission brand lift study: measure VALORANT purchase intent among tarik vs TenZ audiences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4655"/>
          </a:solidFill>
          <a:ln/>
        </p:spPr>
      </p:sp>
      <p:sp>
        <p:nvSpPr>
          <p:cNvPr id="3" name="Text 1"/>
          <p:cNvSpPr/>
          <p:nvPr/>
        </p:nvSpPr>
        <p:spPr>
          <a:xfrm>
            <a:off x="457200" y="182880"/>
            <a:ext cx="10972800" cy="502920"/>
          </a:xfrm>
          <a:prstGeom prst="rect">
            <a:avLst/>
          </a:prstGeom>
          <a:noFill/>
          <a:ln/>
        </p:spPr>
        <p:txBody>
          <a:bodyPr wrap="square" rtlCol="0" anchor="ctr"/>
          <a:lstStyle/>
          <a:p>
            <a:pPr indent="0" marL="0">
              <a:buNone/>
            </a:pPr>
            <a:r>
              <a:rPr lang="en-US" sz="2800" b="1" dirty="0">
                <a:solidFill>
                  <a:srgbClr val="FFFFFF"/>
                </a:solidFill>
              </a:rPr>
              <a:t>Methodology &amp; Known Limitations</a:t>
            </a:r>
            <a:endParaRPr lang="en-US" sz="2800" dirty="0"/>
          </a:p>
        </p:txBody>
      </p:sp>
      <p:sp>
        <p:nvSpPr>
          <p:cNvPr id="4" name="Text 2"/>
          <p:cNvSpPr/>
          <p:nvPr/>
        </p:nvSpPr>
        <p:spPr>
          <a:xfrm>
            <a:off x="457200" y="658368"/>
            <a:ext cx="10972800" cy="292608"/>
          </a:xfrm>
          <a:prstGeom prst="rect">
            <a:avLst/>
          </a:prstGeom>
          <a:noFill/>
          <a:ln/>
        </p:spPr>
        <p:txBody>
          <a:bodyPr wrap="square" rtlCol="0" anchor="ctr"/>
          <a:lstStyle/>
          <a:p>
            <a:pPr indent="0" marL="0">
              <a:buNone/>
            </a:pPr>
            <a:r>
              <a:rPr lang="en-US" sz="1300" dirty="0">
                <a:solidFill>
                  <a:srgbClr val="FF9500"/>
                </a:solidFill>
              </a:rPr>
              <a:t>What this analysis can defend — and where the gaps are</a:t>
            </a:r>
            <a:endParaRPr lang="en-US" sz="1300" dirty="0"/>
          </a:p>
        </p:txBody>
      </p:sp>
      <p:sp>
        <p:nvSpPr>
          <p:cNvPr id="5" name="Shape 3"/>
          <p:cNvSpPr/>
          <p:nvPr/>
        </p:nvSpPr>
        <p:spPr>
          <a:xfrm>
            <a:off x="320040" y="1005840"/>
            <a:ext cx="5486400" cy="5394960"/>
          </a:xfrm>
          <a:prstGeom prst="rect">
            <a:avLst/>
          </a:prstGeom>
          <a:solidFill>
            <a:srgbClr val="1F2937"/>
          </a:solidFill>
          <a:ln/>
        </p:spPr>
      </p:sp>
      <p:sp>
        <p:nvSpPr>
          <p:cNvPr id="6" name="Shape 4"/>
          <p:cNvSpPr/>
          <p:nvPr/>
        </p:nvSpPr>
        <p:spPr>
          <a:xfrm>
            <a:off x="320040" y="1005840"/>
            <a:ext cx="5486400" cy="411480"/>
          </a:xfrm>
          <a:prstGeom prst="rect">
            <a:avLst/>
          </a:prstGeom>
          <a:solidFill>
            <a:srgbClr val="00FF88"/>
          </a:solidFill>
          <a:ln/>
        </p:spPr>
      </p:sp>
      <p:sp>
        <p:nvSpPr>
          <p:cNvPr id="7" name="Text 5"/>
          <p:cNvSpPr/>
          <p:nvPr/>
        </p:nvSpPr>
        <p:spPr>
          <a:xfrm>
            <a:off x="411480" y="1033272"/>
            <a:ext cx="5303520" cy="347472"/>
          </a:xfrm>
          <a:prstGeom prst="rect">
            <a:avLst/>
          </a:prstGeom>
          <a:noFill/>
          <a:ln/>
        </p:spPr>
        <p:txBody>
          <a:bodyPr wrap="square" rtlCol="0" anchor="ctr"/>
          <a:lstStyle/>
          <a:p>
            <a:pPr indent="0" marL="0">
              <a:buNone/>
            </a:pPr>
            <a:r>
              <a:rPr lang="en-US" sz="1200" b="1" dirty="0">
                <a:solidFill>
                  <a:srgbClr val="0F1923"/>
                </a:solidFill>
              </a:rPr>
              <a:t>✓  WHAT THIS ANALYSIS CAN DEFEND</a:t>
            </a:r>
            <a:endParaRPr lang="en-US" sz="1200" dirty="0"/>
          </a:p>
        </p:txBody>
      </p:sp>
      <p:sp>
        <p:nvSpPr>
          <p:cNvPr id="8" name="Text 6"/>
          <p:cNvSpPr/>
          <p:nvPr/>
        </p:nvSpPr>
        <p:spPr>
          <a:xfrm>
            <a:off x="457200" y="1490472"/>
            <a:ext cx="1828800" cy="292608"/>
          </a:xfrm>
          <a:prstGeom prst="rect">
            <a:avLst/>
          </a:prstGeom>
          <a:noFill/>
          <a:ln/>
        </p:spPr>
        <p:txBody>
          <a:bodyPr wrap="square" rtlCol="0" anchor="ctr"/>
          <a:lstStyle/>
          <a:p>
            <a:pPr indent="0" marL="0">
              <a:buNone/>
            </a:pPr>
            <a:r>
              <a:rPr lang="en-US" sz="1100" b="1" dirty="0">
                <a:solidFill>
                  <a:srgbClr val="00FF88"/>
                </a:solidFill>
              </a:rPr>
              <a:t>Real Data</a:t>
            </a:r>
            <a:endParaRPr lang="en-US" sz="1100" dirty="0"/>
          </a:p>
        </p:txBody>
      </p:sp>
      <p:sp>
        <p:nvSpPr>
          <p:cNvPr id="9" name="Text 7"/>
          <p:cNvSpPr/>
          <p:nvPr/>
        </p:nvSpPr>
        <p:spPr>
          <a:xfrm>
            <a:off x="457200" y="1764792"/>
            <a:ext cx="5120640" cy="411480"/>
          </a:xfrm>
          <a:prstGeom prst="rect">
            <a:avLst/>
          </a:prstGeom>
          <a:noFill/>
          <a:ln/>
        </p:spPr>
        <p:txBody>
          <a:bodyPr wrap="square" rtlCol="0" anchor="ctr"/>
          <a:lstStyle/>
          <a:p>
            <a:pPr indent="0" marL="0">
              <a:buNone/>
            </a:pPr>
            <a:r>
              <a:rPr lang="en-US" sz="1000" dirty="0">
                <a:solidFill>
                  <a:srgbClr val="D1D5DB"/>
                </a:solidFill>
              </a:rPr>
              <a:t>112 videos via YouTube Data API v3. Search, Channels, Videos endpoints. Reproducible.</a:t>
            </a:r>
            <a:endParaRPr lang="en-US" sz="1000" dirty="0"/>
          </a:p>
        </p:txBody>
      </p:sp>
      <p:sp>
        <p:nvSpPr>
          <p:cNvPr id="10" name="Text 8"/>
          <p:cNvSpPr/>
          <p:nvPr/>
        </p:nvSpPr>
        <p:spPr>
          <a:xfrm>
            <a:off x="457200" y="2267712"/>
            <a:ext cx="1828800" cy="292608"/>
          </a:xfrm>
          <a:prstGeom prst="rect">
            <a:avLst/>
          </a:prstGeom>
          <a:noFill/>
          <a:ln/>
        </p:spPr>
        <p:txBody>
          <a:bodyPr wrap="square" rtlCol="0" anchor="ctr"/>
          <a:lstStyle/>
          <a:p>
            <a:pPr indent="0" marL="0">
              <a:buNone/>
            </a:pPr>
            <a:r>
              <a:rPr lang="en-US" sz="1100" b="1" dirty="0">
                <a:solidFill>
                  <a:srgbClr val="00FF88"/>
                </a:solidFill>
              </a:rPr>
              <a:t>Viral Normalization</a:t>
            </a:r>
            <a:endParaRPr lang="en-US" sz="1100" dirty="0"/>
          </a:p>
        </p:txBody>
      </p:sp>
      <p:sp>
        <p:nvSpPr>
          <p:cNvPr id="11" name="Text 9"/>
          <p:cNvSpPr/>
          <p:nvPr/>
        </p:nvSpPr>
        <p:spPr>
          <a:xfrm>
            <a:off x="457200" y="2542032"/>
            <a:ext cx="5120640" cy="411480"/>
          </a:xfrm>
          <a:prstGeom prst="rect">
            <a:avLst/>
          </a:prstGeom>
          <a:noFill/>
          <a:ln/>
        </p:spPr>
        <p:txBody>
          <a:bodyPr wrap="square" rtlCol="0" anchor="ctr"/>
          <a:lstStyle/>
          <a:p>
            <a:pPr indent="0" marL="0">
              <a:buNone/>
            </a:pPr>
            <a:r>
              <a:rPr lang="en-US" sz="1000" dirty="0">
                <a:solidFill>
                  <a:srgbClr val="D1D5DB"/>
                </a:solidFill>
              </a:rPr>
              <a:t>TenZ Q3 outlier (7.4M views) excluded from ER baseline. Raw data preserved.</a:t>
            </a:r>
            <a:endParaRPr lang="en-US" sz="1000" dirty="0"/>
          </a:p>
        </p:txBody>
      </p:sp>
      <p:sp>
        <p:nvSpPr>
          <p:cNvPr id="12" name="Text 10"/>
          <p:cNvSpPr/>
          <p:nvPr/>
        </p:nvSpPr>
        <p:spPr>
          <a:xfrm>
            <a:off x="457200" y="3044952"/>
            <a:ext cx="1828800" cy="292608"/>
          </a:xfrm>
          <a:prstGeom prst="rect">
            <a:avLst/>
          </a:prstGeom>
          <a:noFill/>
          <a:ln/>
        </p:spPr>
        <p:txBody>
          <a:bodyPr wrap="square" rtlCol="0" anchor="ctr"/>
          <a:lstStyle/>
          <a:p>
            <a:pPr indent="0" marL="0">
              <a:buNone/>
            </a:pPr>
            <a:r>
              <a:rPr lang="en-US" sz="1100" b="1" dirty="0">
                <a:solidFill>
                  <a:srgbClr val="00FF88"/>
                </a:solidFill>
              </a:rPr>
              <a:t>External Context</a:t>
            </a:r>
            <a:endParaRPr lang="en-US" sz="1100" dirty="0"/>
          </a:p>
        </p:txBody>
      </p:sp>
      <p:sp>
        <p:nvSpPr>
          <p:cNvPr id="13" name="Text 11"/>
          <p:cNvSpPr/>
          <p:nvPr/>
        </p:nvSpPr>
        <p:spPr>
          <a:xfrm>
            <a:off x="457200" y="3319272"/>
            <a:ext cx="5120640" cy="411480"/>
          </a:xfrm>
          <a:prstGeom prst="rect">
            <a:avLst/>
          </a:prstGeom>
          <a:noFill/>
          <a:ln/>
        </p:spPr>
        <p:txBody>
          <a:bodyPr wrap="square" rtlCol="0" anchor="ctr"/>
          <a:lstStyle/>
          <a:p>
            <a:pPr indent="0" marL="0">
              <a:buNone/>
            </a:pPr>
            <a:r>
              <a:rPr lang="en-US" sz="1000" dirty="0">
                <a:solidFill>
                  <a:srgbClr val="D1D5DB"/>
                </a:solidFill>
              </a:rPr>
              <a:t>Google Trends join provides category-level headwind context for Q4 compression.</a:t>
            </a:r>
            <a:endParaRPr lang="en-US" sz="1000" dirty="0"/>
          </a:p>
        </p:txBody>
      </p:sp>
      <p:sp>
        <p:nvSpPr>
          <p:cNvPr id="14" name="Text 12"/>
          <p:cNvSpPr/>
          <p:nvPr/>
        </p:nvSpPr>
        <p:spPr>
          <a:xfrm>
            <a:off x="457200" y="3822192"/>
            <a:ext cx="1828800" cy="292608"/>
          </a:xfrm>
          <a:prstGeom prst="rect">
            <a:avLst/>
          </a:prstGeom>
          <a:noFill/>
          <a:ln/>
        </p:spPr>
        <p:txBody>
          <a:bodyPr wrap="square" rtlCol="0" anchor="ctr"/>
          <a:lstStyle/>
          <a:p>
            <a:pPr indent="0" marL="0">
              <a:buNone/>
            </a:pPr>
            <a:r>
              <a:rPr lang="en-US" sz="1100" b="1" dirty="0">
                <a:solidFill>
                  <a:srgbClr val="00FF88"/>
                </a:solidFill>
              </a:rPr>
              <a:t>Feature Engineering</a:t>
            </a:r>
            <a:endParaRPr lang="en-US" sz="1100" dirty="0"/>
          </a:p>
        </p:txBody>
      </p:sp>
      <p:sp>
        <p:nvSpPr>
          <p:cNvPr id="15" name="Text 13"/>
          <p:cNvSpPr/>
          <p:nvPr/>
        </p:nvSpPr>
        <p:spPr>
          <a:xfrm>
            <a:off x="457200" y="4096512"/>
            <a:ext cx="5120640" cy="411480"/>
          </a:xfrm>
          <a:prstGeom prst="rect">
            <a:avLst/>
          </a:prstGeom>
          <a:noFill/>
          <a:ln/>
        </p:spPr>
        <p:txBody>
          <a:bodyPr wrap="square" rtlCol="0" anchor="ctr"/>
          <a:lstStyle/>
          <a:p>
            <a:pPr indent="0" marL="0">
              <a:buNone/>
            </a:pPr>
            <a:r>
              <a:rPr lang="en-US" sz="1000" dirty="0">
                <a:solidFill>
                  <a:srgbClr val="D1D5DB"/>
                </a:solidFill>
              </a:rPr>
              <a:t>QEI (comment-weighted ER), Reach Index, Watch Time all documented in code.</a:t>
            </a:r>
            <a:endParaRPr lang="en-US" sz="1000" dirty="0"/>
          </a:p>
        </p:txBody>
      </p:sp>
      <p:sp>
        <p:nvSpPr>
          <p:cNvPr id="16" name="Text 14"/>
          <p:cNvSpPr/>
          <p:nvPr/>
        </p:nvSpPr>
        <p:spPr>
          <a:xfrm>
            <a:off x="457200" y="4599432"/>
            <a:ext cx="1828800" cy="292608"/>
          </a:xfrm>
          <a:prstGeom prst="rect">
            <a:avLst/>
          </a:prstGeom>
          <a:noFill/>
          <a:ln/>
        </p:spPr>
        <p:txBody>
          <a:bodyPr wrap="square" rtlCol="0" anchor="ctr"/>
          <a:lstStyle/>
          <a:p>
            <a:pPr indent="0" marL="0">
              <a:buNone/>
            </a:pPr>
            <a:r>
              <a:rPr lang="en-US" sz="1100" b="1" dirty="0">
                <a:solidFill>
                  <a:srgbClr val="00FF88"/>
                </a:solidFill>
              </a:rPr>
              <a:t>Incrementality Proxy</a:t>
            </a:r>
            <a:endParaRPr lang="en-US" sz="1100" dirty="0"/>
          </a:p>
        </p:txBody>
      </p:sp>
      <p:sp>
        <p:nvSpPr>
          <p:cNvPr id="17" name="Text 15"/>
          <p:cNvSpPr/>
          <p:nvPr/>
        </p:nvSpPr>
        <p:spPr>
          <a:xfrm>
            <a:off x="457200" y="4873752"/>
            <a:ext cx="5120640" cy="411480"/>
          </a:xfrm>
          <a:prstGeom prst="rect">
            <a:avLst/>
          </a:prstGeom>
          <a:noFill/>
          <a:ln/>
        </p:spPr>
        <p:txBody>
          <a:bodyPr wrap="square" rtlCol="0" anchor="ctr"/>
          <a:lstStyle/>
          <a:p>
            <a:pPr indent="0" marL="0">
              <a:buNone/>
            </a:pPr>
            <a:r>
              <a:rPr lang="en-US" sz="1000" dirty="0">
                <a:solidFill>
                  <a:srgbClr val="D1D5DB"/>
                </a:solidFill>
              </a:rPr>
              <a:t>Q3→Q4 ΔER is valid as a period comparison. Labelled correctly as a proxy.</a:t>
            </a:r>
            <a:endParaRPr lang="en-US" sz="1000" dirty="0"/>
          </a:p>
        </p:txBody>
      </p:sp>
      <p:sp>
        <p:nvSpPr>
          <p:cNvPr id="18" name="Text 16"/>
          <p:cNvSpPr/>
          <p:nvPr/>
        </p:nvSpPr>
        <p:spPr>
          <a:xfrm>
            <a:off x="457200" y="5376672"/>
            <a:ext cx="1828800" cy="292608"/>
          </a:xfrm>
          <a:prstGeom prst="rect">
            <a:avLst/>
          </a:prstGeom>
          <a:noFill/>
          <a:ln/>
        </p:spPr>
        <p:txBody>
          <a:bodyPr wrap="square" rtlCol="0" anchor="ctr"/>
          <a:lstStyle/>
          <a:p>
            <a:pPr indent="0" marL="0">
              <a:buNone/>
            </a:pPr>
            <a:r>
              <a:rPr lang="en-US" sz="1100" b="1" dirty="0">
                <a:solidFill>
                  <a:srgbClr val="00FF88"/>
                </a:solidFill>
              </a:rPr>
              <a:t>CPE Benchmarks</a:t>
            </a:r>
            <a:endParaRPr lang="en-US" sz="1100" dirty="0"/>
          </a:p>
        </p:txBody>
      </p:sp>
      <p:sp>
        <p:nvSpPr>
          <p:cNvPr id="19" name="Text 17"/>
          <p:cNvSpPr/>
          <p:nvPr/>
        </p:nvSpPr>
        <p:spPr>
          <a:xfrm>
            <a:off x="457200" y="5650992"/>
            <a:ext cx="5120640" cy="411480"/>
          </a:xfrm>
          <a:prstGeom prst="rect">
            <a:avLst/>
          </a:prstGeom>
          <a:noFill/>
          <a:ln/>
        </p:spPr>
        <p:txBody>
          <a:bodyPr wrap="square" rtlCol="0" anchor="ctr"/>
          <a:lstStyle/>
          <a:p>
            <a:pPr indent="0" marL="0">
              <a:buNone/>
            </a:pPr>
            <a:r>
              <a:rPr lang="en-US" sz="1000" dirty="0">
                <a:solidFill>
                  <a:srgbClr val="D1D5DB"/>
                </a:solidFill>
              </a:rPr>
              <a:t>Influencer Mktg Hub 2024 CPE tiers ($0.11/$0.25) are industry-standard references.</a:t>
            </a:r>
            <a:endParaRPr lang="en-US" sz="1000" dirty="0"/>
          </a:p>
        </p:txBody>
      </p:sp>
      <p:sp>
        <p:nvSpPr>
          <p:cNvPr id="20" name="Shape 18"/>
          <p:cNvSpPr/>
          <p:nvPr/>
        </p:nvSpPr>
        <p:spPr>
          <a:xfrm>
            <a:off x="6126480" y="1005840"/>
            <a:ext cx="5760720" cy="5394960"/>
          </a:xfrm>
          <a:prstGeom prst="rect">
            <a:avLst/>
          </a:prstGeom>
          <a:solidFill>
            <a:srgbClr val="1F2937"/>
          </a:solidFill>
          <a:ln/>
        </p:spPr>
      </p:sp>
      <p:sp>
        <p:nvSpPr>
          <p:cNvPr id="21" name="Shape 19"/>
          <p:cNvSpPr/>
          <p:nvPr/>
        </p:nvSpPr>
        <p:spPr>
          <a:xfrm>
            <a:off x="6126480" y="1005840"/>
            <a:ext cx="5760720" cy="411480"/>
          </a:xfrm>
          <a:prstGeom prst="rect">
            <a:avLst/>
          </a:prstGeom>
          <a:solidFill>
            <a:srgbClr val="FF9500"/>
          </a:solidFill>
          <a:ln/>
        </p:spPr>
      </p:sp>
      <p:sp>
        <p:nvSpPr>
          <p:cNvPr id="22" name="Text 20"/>
          <p:cNvSpPr/>
          <p:nvPr/>
        </p:nvSpPr>
        <p:spPr>
          <a:xfrm>
            <a:off x="6217920" y="1033272"/>
            <a:ext cx="5577840" cy="347472"/>
          </a:xfrm>
          <a:prstGeom prst="rect">
            <a:avLst/>
          </a:prstGeom>
          <a:noFill/>
          <a:ln/>
        </p:spPr>
        <p:txBody>
          <a:bodyPr wrap="square" rtlCol="0" anchor="ctr"/>
          <a:lstStyle/>
          <a:p>
            <a:pPr indent="0" marL="0">
              <a:buNone/>
            </a:pPr>
            <a:r>
              <a:rPr lang="en-US" sz="1200" b="1" dirty="0">
                <a:solidFill>
                  <a:srgbClr val="0F1923"/>
                </a:solidFill>
              </a:rPr>
              <a:t>⚠  KNOWN LIMITATIONS &amp; GAPS</a:t>
            </a:r>
            <a:endParaRPr lang="en-US" sz="1200" dirty="0"/>
          </a:p>
        </p:txBody>
      </p:sp>
      <p:sp>
        <p:nvSpPr>
          <p:cNvPr id="23" name="Shape 21"/>
          <p:cNvSpPr/>
          <p:nvPr/>
        </p:nvSpPr>
        <p:spPr>
          <a:xfrm>
            <a:off x="6217920" y="1490472"/>
            <a:ext cx="5532120" cy="914400"/>
          </a:xfrm>
          <a:prstGeom prst="rect">
            <a:avLst/>
          </a:prstGeom>
          <a:solidFill>
            <a:srgbClr val="111827"/>
          </a:solidFill>
          <a:ln w="12700">
            <a:solidFill>
              <a:srgbClr val="FF9500"/>
            </a:solidFill>
            <a:prstDash val="solid"/>
          </a:ln>
        </p:spPr>
      </p:sp>
      <p:sp>
        <p:nvSpPr>
          <p:cNvPr id="24" name="Text 22"/>
          <p:cNvSpPr/>
          <p:nvPr/>
        </p:nvSpPr>
        <p:spPr>
          <a:xfrm>
            <a:off x="6355080" y="1527048"/>
            <a:ext cx="5303520" cy="256032"/>
          </a:xfrm>
          <a:prstGeom prst="rect">
            <a:avLst/>
          </a:prstGeom>
          <a:noFill/>
          <a:ln/>
        </p:spPr>
        <p:txBody>
          <a:bodyPr wrap="square" rtlCol="0" anchor="ctr"/>
          <a:lstStyle/>
          <a:p>
            <a:pPr indent="0" marL="0">
              <a:buNone/>
            </a:pPr>
            <a:r>
              <a:rPr lang="en-US" sz="1100" b="1" dirty="0">
                <a:solidFill>
                  <a:srgbClr val="FF9500"/>
                </a:solidFill>
              </a:rPr>
              <a:t>Modelled Spend</a:t>
            </a:r>
            <a:endParaRPr lang="en-US" sz="1100" dirty="0"/>
          </a:p>
        </p:txBody>
      </p:sp>
      <p:sp>
        <p:nvSpPr>
          <p:cNvPr id="25" name="Text 23"/>
          <p:cNvSpPr/>
          <p:nvPr/>
        </p:nvSpPr>
        <p:spPr>
          <a:xfrm>
            <a:off x="6355080" y="1764792"/>
            <a:ext cx="5303520" cy="566928"/>
          </a:xfrm>
          <a:prstGeom prst="rect">
            <a:avLst/>
          </a:prstGeom>
          <a:noFill/>
          <a:ln/>
        </p:spPr>
        <p:txBody>
          <a:bodyPr wrap="square" rtlCol="0" anchor="ctr"/>
          <a:lstStyle/>
          <a:p>
            <a:pPr indent="0" marL="0">
              <a:buNone/>
            </a:pPr>
            <a:r>
              <a:rPr lang="en-US" sz="1000" dirty="0">
                <a:solidFill>
                  <a:srgbClr val="D1D5DB"/>
                </a:solidFill>
              </a:rPr>
              <a:t>Monthly spend ($7K–$28K) is estimated from IMH benchmarks, not actual contracts. CPE will change with real data. Do not treat as fact.</a:t>
            </a:r>
            <a:endParaRPr lang="en-US" sz="1000" dirty="0"/>
          </a:p>
        </p:txBody>
      </p:sp>
      <p:sp>
        <p:nvSpPr>
          <p:cNvPr id="26" name="Shape 24"/>
          <p:cNvSpPr/>
          <p:nvPr/>
        </p:nvSpPr>
        <p:spPr>
          <a:xfrm>
            <a:off x="6217920" y="2468880"/>
            <a:ext cx="5532120" cy="914400"/>
          </a:xfrm>
          <a:prstGeom prst="rect">
            <a:avLst/>
          </a:prstGeom>
          <a:solidFill>
            <a:srgbClr val="111827"/>
          </a:solidFill>
          <a:ln w="12700">
            <a:solidFill>
              <a:srgbClr val="FF9500"/>
            </a:solidFill>
            <a:prstDash val="solid"/>
          </a:ln>
        </p:spPr>
      </p:sp>
      <p:sp>
        <p:nvSpPr>
          <p:cNvPr id="27" name="Text 25"/>
          <p:cNvSpPr/>
          <p:nvPr/>
        </p:nvSpPr>
        <p:spPr>
          <a:xfrm>
            <a:off x="6355080" y="2505456"/>
            <a:ext cx="5303520" cy="256032"/>
          </a:xfrm>
          <a:prstGeom prst="rect">
            <a:avLst/>
          </a:prstGeom>
          <a:noFill/>
          <a:ln/>
        </p:spPr>
        <p:txBody>
          <a:bodyPr wrap="square" rtlCol="0" anchor="ctr"/>
          <a:lstStyle/>
          <a:p>
            <a:pPr indent="0" marL="0">
              <a:buNone/>
            </a:pPr>
            <a:r>
              <a:rPr lang="en-US" sz="1100" b="1" dirty="0">
                <a:solidFill>
                  <a:srgbClr val="FF9500"/>
                </a:solidFill>
              </a:rPr>
              <a:t>No True Incrementality</a:t>
            </a:r>
            <a:endParaRPr lang="en-US" sz="1100" dirty="0"/>
          </a:p>
        </p:txBody>
      </p:sp>
      <p:sp>
        <p:nvSpPr>
          <p:cNvPr id="28" name="Text 26"/>
          <p:cNvSpPr/>
          <p:nvPr/>
        </p:nvSpPr>
        <p:spPr>
          <a:xfrm>
            <a:off x="6355080" y="2743200"/>
            <a:ext cx="5303520" cy="566928"/>
          </a:xfrm>
          <a:prstGeom prst="rect">
            <a:avLst/>
          </a:prstGeom>
          <a:noFill/>
          <a:ln/>
        </p:spPr>
        <p:txBody>
          <a:bodyPr wrap="square" rtlCol="0" anchor="ctr"/>
          <a:lstStyle/>
          <a:p>
            <a:pPr indent="0" marL="0">
              <a:buNone/>
            </a:pPr>
            <a:r>
              <a:rPr lang="en-US" sz="1000" dirty="0">
                <a:solidFill>
                  <a:srgbClr val="D1D5DB"/>
                </a:solidFill>
              </a:rPr>
              <a:t>"Incrementality" here = ΔER Q3→Q4. True causal lift requires a holdout group, geo-split, or PSM — none of which are available with public data.</a:t>
            </a:r>
            <a:endParaRPr lang="en-US" sz="1000" dirty="0"/>
          </a:p>
        </p:txBody>
      </p:sp>
      <p:sp>
        <p:nvSpPr>
          <p:cNvPr id="29" name="Shape 27"/>
          <p:cNvSpPr/>
          <p:nvPr/>
        </p:nvSpPr>
        <p:spPr>
          <a:xfrm>
            <a:off x="6217920" y="3447288"/>
            <a:ext cx="5532120" cy="914400"/>
          </a:xfrm>
          <a:prstGeom prst="rect">
            <a:avLst/>
          </a:prstGeom>
          <a:solidFill>
            <a:srgbClr val="111827"/>
          </a:solidFill>
          <a:ln w="12700">
            <a:solidFill>
              <a:srgbClr val="FF9500"/>
            </a:solidFill>
            <a:prstDash val="solid"/>
          </a:ln>
        </p:spPr>
      </p:sp>
      <p:sp>
        <p:nvSpPr>
          <p:cNvPr id="30" name="Text 28"/>
          <p:cNvSpPr/>
          <p:nvPr/>
        </p:nvSpPr>
        <p:spPr>
          <a:xfrm>
            <a:off x="6355080" y="3483864"/>
            <a:ext cx="5303520" cy="256032"/>
          </a:xfrm>
          <a:prstGeom prst="rect">
            <a:avLst/>
          </a:prstGeom>
          <a:noFill/>
          <a:ln/>
        </p:spPr>
        <p:txBody>
          <a:bodyPr wrap="square" rtlCol="0" anchor="ctr"/>
          <a:lstStyle/>
          <a:p>
            <a:pPr indent="0" marL="0">
              <a:buNone/>
            </a:pPr>
            <a:r>
              <a:rPr lang="en-US" sz="1100" b="1" dirty="0">
                <a:solidFill>
                  <a:srgbClr val="FF9500"/>
                </a:solidFill>
              </a:rPr>
              <a:t>Watch Time Assumed</a:t>
            </a:r>
            <a:endParaRPr lang="en-US" sz="1100" dirty="0"/>
          </a:p>
        </p:txBody>
      </p:sp>
      <p:sp>
        <p:nvSpPr>
          <p:cNvPr id="31" name="Text 29"/>
          <p:cNvSpPr/>
          <p:nvPr/>
        </p:nvSpPr>
        <p:spPr>
          <a:xfrm>
            <a:off x="6355080" y="3721608"/>
            <a:ext cx="5303520" cy="566928"/>
          </a:xfrm>
          <a:prstGeom prst="rect">
            <a:avLst/>
          </a:prstGeom>
          <a:noFill/>
          <a:ln/>
        </p:spPr>
        <p:txBody>
          <a:bodyPr wrap="square" rtlCol="0" anchor="ctr"/>
          <a:lstStyle/>
          <a:p>
            <a:pPr indent="0" marL="0">
              <a:buNone/>
            </a:pPr>
            <a:r>
              <a:rPr lang="en-US" sz="1000" dirty="0">
                <a:solidFill>
                  <a:srgbClr val="D1D5DB"/>
                </a:solidFill>
              </a:rPr>
              <a:t>50% completion applied uniformly to all content types. Shorts have very different patterns than long-form. Requires YouTube Studio access to validate.</a:t>
            </a:r>
            <a:endParaRPr lang="en-US" sz="1000" dirty="0"/>
          </a:p>
        </p:txBody>
      </p:sp>
      <p:sp>
        <p:nvSpPr>
          <p:cNvPr id="32" name="Shape 30"/>
          <p:cNvSpPr/>
          <p:nvPr/>
        </p:nvSpPr>
        <p:spPr>
          <a:xfrm>
            <a:off x="6217920" y="4425696"/>
            <a:ext cx="5532120" cy="914400"/>
          </a:xfrm>
          <a:prstGeom prst="rect">
            <a:avLst/>
          </a:prstGeom>
          <a:solidFill>
            <a:srgbClr val="111827"/>
          </a:solidFill>
          <a:ln w="12700">
            <a:solidFill>
              <a:srgbClr val="FF9500"/>
            </a:solidFill>
            <a:prstDash val="solid"/>
          </a:ln>
        </p:spPr>
      </p:sp>
      <p:sp>
        <p:nvSpPr>
          <p:cNvPr id="33" name="Text 31"/>
          <p:cNvSpPr/>
          <p:nvPr/>
        </p:nvSpPr>
        <p:spPr>
          <a:xfrm>
            <a:off x="6355080" y="4462272"/>
            <a:ext cx="5303520" cy="256032"/>
          </a:xfrm>
          <a:prstGeom prst="rect">
            <a:avLst/>
          </a:prstGeom>
          <a:noFill/>
          <a:ln/>
        </p:spPr>
        <p:txBody>
          <a:bodyPr wrap="square" rtlCol="0" anchor="ctr"/>
          <a:lstStyle/>
          <a:p>
            <a:pPr indent="0" marL="0">
              <a:buNone/>
            </a:pPr>
            <a:r>
              <a:rPr lang="en-US" sz="1100" b="1" dirty="0">
                <a:solidFill>
                  <a:srgbClr val="FF9500"/>
                </a:solidFill>
              </a:rPr>
              <a:t>No Tier-Adjusted Benchmarks</a:t>
            </a:r>
            <a:endParaRPr lang="en-US" sz="1100" dirty="0"/>
          </a:p>
        </p:txBody>
      </p:sp>
      <p:sp>
        <p:nvSpPr>
          <p:cNvPr id="34" name="Text 32"/>
          <p:cNvSpPr/>
          <p:nvPr/>
        </p:nvSpPr>
        <p:spPr>
          <a:xfrm>
            <a:off x="6355080" y="4700016"/>
            <a:ext cx="5303520" cy="566928"/>
          </a:xfrm>
          <a:prstGeom prst="rect">
            <a:avLst/>
          </a:prstGeom>
          <a:noFill/>
          <a:ln/>
        </p:spPr>
        <p:txBody>
          <a:bodyPr wrap="square" rtlCol="0" anchor="ctr"/>
          <a:lstStyle/>
          <a:p>
            <a:pPr indent="0" marL="0">
              <a:buNone/>
            </a:pPr>
            <a:r>
              <a:rPr lang="en-US" sz="1000" dirty="0">
                <a:solidFill>
                  <a:srgbClr val="D1D5DB"/>
                </a:solidFill>
              </a:rPr>
              <a:t>3.87% applied uniformly. A 20M-sub channel (TenZ) has a structurally lower ER expectation than an 870K-sub channel (Protatomonster). Tier-specific benchmarks would sharpen the analysis.</a:t>
            </a:r>
            <a:endParaRPr lang="en-US" sz="1000" dirty="0"/>
          </a:p>
        </p:txBody>
      </p:sp>
      <p:sp>
        <p:nvSpPr>
          <p:cNvPr id="35" name="Shape 33"/>
          <p:cNvSpPr/>
          <p:nvPr/>
        </p:nvSpPr>
        <p:spPr>
          <a:xfrm>
            <a:off x="6217920" y="5404104"/>
            <a:ext cx="5532120" cy="914400"/>
          </a:xfrm>
          <a:prstGeom prst="rect">
            <a:avLst/>
          </a:prstGeom>
          <a:solidFill>
            <a:srgbClr val="111827"/>
          </a:solidFill>
          <a:ln w="12700">
            <a:solidFill>
              <a:srgbClr val="FF9500"/>
            </a:solidFill>
            <a:prstDash val="solid"/>
          </a:ln>
        </p:spPr>
      </p:sp>
      <p:sp>
        <p:nvSpPr>
          <p:cNvPr id="36" name="Text 34"/>
          <p:cNvSpPr/>
          <p:nvPr/>
        </p:nvSpPr>
        <p:spPr>
          <a:xfrm>
            <a:off x="6355080" y="5440680"/>
            <a:ext cx="5303520" cy="256032"/>
          </a:xfrm>
          <a:prstGeom prst="rect">
            <a:avLst/>
          </a:prstGeom>
          <a:noFill/>
          <a:ln/>
        </p:spPr>
        <p:txBody>
          <a:bodyPr wrap="square" rtlCol="0" anchor="ctr"/>
          <a:lstStyle/>
          <a:p>
            <a:pPr indent="0" marL="0">
              <a:buNone/>
            </a:pPr>
            <a:r>
              <a:rPr lang="en-US" sz="1100" b="1" dirty="0">
                <a:solidFill>
                  <a:srgbClr val="FF9500"/>
                </a:solidFill>
              </a:rPr>
              <a:t>Missing Funnel Signals</a:t>
            </a:r>
            <a:endParaRPr lang="en-US" sz="1100" dirty="0"/>
          </a:p>
        </p:txBody>
      </p:sp>
      <p:sp>
        <p:nvSpPr>
          <p:cNvPr id="37" name="Text 35"/>
          <p:cNvSpPr/>
          <p:nvPr/>
        </p:nvSpPr>
        <p:spPr>
          <a:xfrm>
            <a:off x="6355080" y="5678424"/>
            <a:ext cx="5303520" cy="566928"/>
          </a:xfrm>
          <a:prstGeom prst="rect">
            <a:avLst/>
          </a:prstGeom>
          <a:noFill/>
          <a:ln/>
        </p:spPr>
        <p:txBody>
          <a:bodyPr wrap="square" rtlCol="0" anchor="ctr"/>
          <a:lstStyle/>
          <a:p>
            <a:pPr indent="0" marL="0">
              <a:buNone/>
            </a:pPr>
            <a:r>
              <a:rPr lang="en-US" sz="1000" dirty="0">
                <a:solidFill>
                  <a:srgbClr val="D1D5DB"/>
                </a:solidFill>
              </a:rPr>
              <a:t>No link-in-bio clicks, discount code redemptions, or traffic attribution. CPE measures engagement cost, not conversion cost. The "consideration" layer is incomplete without lower-funnel data.</a:t>
            </a:r>
            <a:endParaRPr lang="en-US" sz="1000" dirty="0"/>
          </a:p>
        </p:txBody>
      </p:sp>
      <p:sp>
        <p:nvSpPr>
          <p:cNvPr id="38" name="Text 36"/>
          <p:cNvSpPr/>
          <p:nvPr/>
        </p:nvSpPr>
        <p:spPr>
          <a:xfrm>
            <a:off x="0" y="6537960"/>
            <a:ext cx="12188952" cy="256032"/>
          </a:xfrm>
          <a:prstGeom prst="rect">
            <a:avLst/>
          </a:prstGeom>
          <a:noFill/>
          <a:ln/>
        </p:spPr>
        <p:txBody>
          <a:bodyPr wrap="square" rtlCol="0" anchor="ctr"/>
          <a:lstStyle/>
          <a:p>
            <a:pPr algn="ctr" indent="0" marL="0">
              <a:buNone/>
            </a:pPr>
            <a:r>
              <a:rPr lang="en-US" sz="900" dirty="0">
                <a:solidFill>
                  <a:srgbClr val="6B7280"/>
                </a:solidFill>
              </a:rPr>
              <a:t>Data frozen at analysis date: Jan 15, 2025  ·  Pipeline: run_pipeline.py  ·  Full methodology: METHODOLOGY.md  ·  Replication: README.md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2026-04-13T07:21:00Z</dcterms:created>
  <dcterms:modified xsi:type="dcterms:W3CDTF">2026-04-13T07:21:00Z</dcterms:modified>
</cp:coreProperties>
</file>